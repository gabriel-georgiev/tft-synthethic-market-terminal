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  <p:sldId id="257" r:id="rId3"/>
    <p:sldId id="258" r:id="rId4"/>
    <p:sldId id="259" r:id="rId5"/>
    <p:sldId id="260" r:id="rId6"/>
    <p:sldId id="273" r:id="rId7"/>
    <p:sldId id="267" r:id="rId8"/>
    <p:sldId id="270" r:id="rId9"/>
    <p:sldId id="271" r:id="rId10"/>
    <p:sldId id="269" r:id="rId11"/>
    <p:sldId id="272" r:id="rId12"/>
    <p:sldId id="261" r:id="rId13"/>
    <p:sldId id="262" r:id="rId14"/>
    <p:sldId id="263" r:id="rId15"/>
    <p:sldId id="264" r:id="rId16"/>
    <p:sldId id="265" r:id="rId17"/>
    <p:sldId id="266" r:id="rId18"/>
    <p:sldId id="268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C5445A-051B-4D44-946D-84F57CD0F9A0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6350654-0FC3-4ADA-9D58-3991B88D0B06}">
      <dgm:prSet phldrT="[Text]" phldr="0"/>
      <dgm:spPr/>
      <dgm:t>
        <a:bodyPr/>
        <a:lstStyle/>
        <a:p>
          <a:pPr>
            <a:buNone/>
          </a:pPr>
          <a:r>
            <a:rPr lang="en-GB" b="1" dirty="0"/>
            <a:t>Pricing </a:t>
          </a:r>
          <a:r>
            <a:rPr lang="en-GB" b="1" dirty="0">
              <a:sym typeface="Wingdings" panose="05000000000000000000" pitchFamily="2" charset="2"/>
            </a:rPr>
            <a:t> close = f(W, T4, P)</a:t>
          </a:r>
          <a:endParaRPr lang="en-US" b="1" dirty="0"/>
        </a:p>
      </dgm:t>
    </dgm:pt>
    <dgm:pt modelId="{9C64D6A1-DF8E-45FD-9BDA-D69467E914E2}" type="parTrans" cxnId="{0D0E3A07-28A6-4E77-8A68-9F229F00CF71}">
      <dgm:prSet/>
      <dgm:spPr/>
      <dgm:t>
        <a:bodyPr/>
        <a:lstStyle/>
        <a:p>
          <a:endParaRPr lang="en-US"/>
        </a:p>
      </dgm:t>
    </dgm:pt>
    <dgm:pt modelId="{5CD20967-9CB6-4BFE-AC29-7AD01B78EACB}" type="sibTrans" cxnId="{0D0E3A07-28A6-4E77-8A68-9F229F00CF71}">
      <dgm:prSet/>
      <dgm:spPr/>
      <dgm:t>
        <a:bodyPr/>
        <a:lstStyle/>
        <a:p>
          <a:endParaRPr lang="en-US"/>
        </a:p>
      </dgm:t>
    </dgm:pt>
    <dgm:pt modelId="{3B84C50A-769C-4E4F-BC13-3635173365A2}">
      <dgm:prSet phldrT="[Text]" phldr="0" custT="1"/>
      <dgm:spPr/>
      <dgm:t>
        <a:bodyPr/>
        <a:lstStyle/>
        <a:p>
          <a:r>
            <a:rPr lang="en-GB" sz="1800" b="1" dirty="0"/>
            <a:t>7</a:t>
          </a:r>
          <a:endParaRPr lang="en-US" sz="1300" b="1" dirty="0"/>
        </a:p>
      </dgm:t>
    </dgm:pt>
    <dgm:pt modelId="{B2AE4A37-4901-449E-8C3F-20AC1D8EA70C}" type="parTrans" cxnId="{7E3538C0-68E7-465F-BD73-715A2098B95A}">
      <dgm:prSet/>
      <dgm:spPr/>
      <dgm:t>
        <a:bodyPr/>
        <a:lstStyle/>
        <a:p>
          <a:endParaRPr lang="en-US"/>
        </a:p>
      </dgm:t>
    </dgm:pt>
    <dgm:pt modelId="{5EE6C59E-F185-471B-AC5A-1FAD0B81C461}" type="sibTrans" cxnId="{7E3538C0-68E7-465F-BD73-715A2098B95A}">
      <dgm:prSet/>
      <dgm:spPr/>
      <dgm:t>
        <a:bodyPr/>
        <a:lstStyle/>
        <a:p>
          <a:endParaRPr lang="en-US"/>
        </a:p>
      </dgm:t>
    </dgm:pt>
    <dgm:pt modelId="{7F3A3338-88F6-4619-8D42-1D59DD678CFD}">
      <dgm:prSet phldrT="[Text]" phldr="0"/>
      <dgm:spPr/>
      <dgm:t>
        <a:bodyPr/>
        <a:lstStyle/>
        <a:p>
          <a:pPr>
            <a:buNone/>
          </a:pPr>
          <a:r>
            <a:rPr lang="en-GB" b="1" dirty="0"/>
            <a:t>Market Store </a:t>
          </a:r>
          <a:r>
            <a:rPr lang="en-GB" b="1" dirty="0">
              <a:sym typeface="Wingdings" panose="05000000000000000000" pitchFamily="2" charset="2"/>
            </a:rPr>
            <a:t> market_history.json (by day)</a:t>
          </a:r>
          <a:endParaRPr lang="en-US" b="1" dirty="0"/>
        </a:p>
      </dgm:t>
    </dgm:pt>
    <dgm:pt modelId="{923AEC09-4B1D-4769-9AF3-9A7B316015AF}" type="parTrans" cxnId="{3465DE4E-76A2-4FE8-8675-E5B0440BC9C2}">
      <dgm:prSet/>
      <dgm:spPr/>
      <dgm:t>
        <a:bodyPr/>
        <a:lstStyle/>
        <a:p>
          <a:endParaRPr lang="en-US"/>
        </a:p>
      </dgm:t>
    </dgm:pt>
    <dgm:pt modelId="{66E579C6-96AF-40FE-AEAD-9DE6B7B5C280}" type="sibTrans" cxnId="{3465DE4E-76A2-4FE8-8675-E5B0440BC9C2}">
      <dgm:prSet/>
      <dgm:spPr/>
      <dgm:t>
        <a:bodyPr/>
        <a:lstStyle/>
        <a:p>
          <a:endParaRPr lang="en-US"/>
        </a:p>
      </dgm:t>
    </dgm:pt>
    <dgm:pt modelId="{F68BC870-7B32-46FF-A384-D61019D27220}">
      <dgm:prSet custT="1"/>
      <dgm:spPr/>
      <dgm:t>
        <a:bodyPr/>
        <a:lstStyle/>
        <a:p>
          <a:r>
            <a:rPr lang="en-GB" sz="1800" b="1" dirty="0"/>
            <a:t>5</a:t>
          </a:r>
          <a:endParaRPr lang="en-US" sz="1800" b="1" dirty="0"/>
        </a:p>
      </dgm:t>
    </dgm:pt>
    <dgm:pt modelId="{6065D407-3042-4AEF-A0DF-2D11CAA0E4CE}" type="parTrans" cxnId="{F0ECF734-2835-428D-96A7-62C7AB3EBC75}">
      <dgm:prSet/>
      <dgm:spPr/>
      <dgm:t>
        <a:bodyPr/>
        <a:lstStyle/>
        <a:p>
          <a:endParaRPr lang="en-US"/>
        </a:p>
      </dgm:t>
    </dgm:pt>
    <dgm:pt modelId="{8F4B1BBD-9132-4272-ACE2-5B1F129A2BC3}" type="sibTrans" cxnId="{F0ECF734-2835-428D-96A7-62C7AB3EBC75}">
      <dgm:prSet/>
      <dgm:spPr/>
      <dgm:t>
        <a:bodyPr/>
        <a:lstStyle/>
        <a:p>
          <a:endParaRPr lang="en-US"/>
        </a:p>
      </dgm:t>
    </dgm:pt>
    <dgm:pt modelId="{2847BF94-7710-496A-AEB0-31C5C0546D13}">
      <dgm:prSet custT="1"/>
      <dgm:spPr/>
      <dgm:t>
        <a:bodyPr/>
        <a:lstStyle/>
        <a:p>
          <a:r>
            <a:rPr lang="en-GB" sz="1800" b="1" dirty="0"/>
            <a:t>4</a:t>
          </a:r>
          <a:endParaRPr lang="en-US" sz="1300" b="1" dirty="0"/>
        </a:p>
      </dgm:t>
    </dgm:pt>
    <dgm:pt modelId="{7DC7FEFD-EBFF-4E91-A969-6921C7C4509C}" type="parTrans" cxnId="{5380B4FA-C1A5-456C-A2B3-4AC384F916E3}">
      <dgm:prSet/>
      <dgm:spPr/>
      <dgm:t>
        <a:bodyPr/>
        <a:lstStyle/>
        <a:p>
          <a:endParaRPr lang="en-US"/>
        </a:p>
      </dgm:t>
    </dgm:pt>
    <dgm:pt modelId="{DB78305D-AD17-4B7B-BE2C-4A1AD8676716}" type="sibTrans" cxnId="{5380B4FA-C1A5-456C-A2B3-4AC384F916E3}">
      <dgm:prSet/>
      <dgm:spPr/>
      <dgm:t>
        <a:bodyPr/>
        <a:lstStyle/>
        <a:p>
          <a:endParaRPr lang="en-US"/>
        </a:p>
      </dgm:t>
    </dgm:pt>
    <dgm:pt modelId="{A756A76E-6601-4EFD-A0E4-B7185E9BEDBB}">
      <dgm:prSet custT="1"/>
      <dgm:spPr/>
      <dgm:t>
        <a:bodyPr/>
        <a:lstStyle/>
        <a:p>
          <a:r>
            <a:rPr lang="en-GB" sz="1800" b="1" dirty="0"/>
            <a:t>3</a:t>
          </a:r>
          <a:endParaRPr lang="en-US" sz="1800" b="1" dirty="0"/>
        </a:p>
      </dgm:t>
    </dgm:pt>
    <dgm:pt modelId="{962B7675-FAAD-4ECB-843C-01D2C074CA82}" type="parTrans" cxnId="{7F2B196B-9535-4DB9-9466-88DE3702D294}">
      <dgm:prSet/>
      <dgm:spPr/>
      <dgm:t>
        <a:bodyPr/>
        <a:lstStyle/>
        <a:p>
          <a:endParaRPr lang="en-US"/>
        </a:p>
      </dgm:t>
    </dgm:pt>
    <dgm:pt modelId="{958CC1F0-E92A-40E8-B81B-A00FD7011DA7}" type="sibTrans" cxnId="{7F2B196B-9535-4DB9-9466-88DE3702D294}">
      <dgm:prSet/>
      <dgm:spPr/>
      <dgm:t>
        <a:bodyPr/>
        <a:lstStyle/>
        <a:p>
          <a:endParaRPr lang="en-US"/>
        </a:p>
      </dgm:t>
    </dgm:pt>
    <dgm:pt modelId="{91C79202-F280-4672-ACB2-0451B34A2E40}">
      <dgm:prSet custT="1"/>
      <dgm:spPr/>
      <dgm:t>
        <a:bodyPr/>
        <a:lstStyle/>
        <a:p>
          <a:r>
            <a:rPr lang="en-GB" sz="1800" b="1" dirty="0"/>
            <a:t>2</a:t>
          </a:r>
          <a:endParaRPr lang="en-US" sz="1300" b="1" dirty="0"/>
        </a:p>
      </dgm:t>
    </dgm:pt>
    <dgm:pt modelId="{B5E10CAC-D87E-425C-89CF-2BD420B080AF}" type="parTrans" cxnId="{644E38D7-801F-4441-BE04-E09E6422360E}">
      <dgm:prSet/>
      <dgm:spPr/>
      <dgm:t>
        <a:bodyPr/>
        <a:lstStyle/>
        <a:p>
          <a:endParaRPr lang="en-US"/>
        </a:p>
      </dgm:t>
    </dgm:pt>
    <dgm:pt modelId="{506674A7-A9E2-40AE-9451-88D7C46FAC01}" type="sibTrans" cxnId="{644E38D7-801F-4441-BE04-E09E6422360E}">
      <dgm:prSet/>
      <dgm:spPr/>
      <dgm:t>
        <a:bodyPr/>
        <a:lstStyle/>
        <a:p>
          <a:endParaRPr lang="en-US"/>
        </a:p>
      </dgm:t>
    </dgm:pt>
    <dgm:pt modelId="{3A8295D4-22C9-48A8-B7AF-21C5C6810A20}">
      <dgm:prSet custT="1"/>
      <dgm:spPr/>
      <dgm:t>
        <a:bodyPr/>
        <a:lstStyle/>
        <a:p>
          <a:r>
            <a:rPr lang="en-GB" sz="1800" b="1" dirty="0"/>
            <a:t>1</a:t>
          </a:r>
          <a:endParaRPr lang="en-US" sz="1400" b="1" dirty="0"/>
        </a:p>
      </dgm:t>
    </dgm:pt>
    <dgm:pt modelId="{7B23AFB7-B6C6-4859-9386-500F2DADAD08}" type="parTrans" cxnId="{918F3981-EF99-4D4A-9FBD-52709D7B6562}">
      <dgm:prSet/>
      <dgm:spPr/>
      <dgm:t>
        <a:bodyPr/>
        <a:lstStyle/>
        <a:p>
          <a:endParaRPr lang="en-US"/>
        </a:p>
      </dgm:t>
    </dgm:pt>
    <dgm:pt modelId="{DA446394-5910-40FE-8543-E2660794AEA6}" type="sibTrans" cxnId="{918F3981-EF99-4D4A-9FBD-52709D7B6562}">
      <dgm:prSet/>
      <dgm:spPr/>
      <dgm:t>
        <a:bodyPr/>
        <a:lstStyle/>
        <a:p>
          <a:endParaRPr lang="en-US"/>
        </a:p>
      </dgm:t>
    </dgm:pt>
    <dgm:pt modelId="{B900221D-C471-4300-AB36-4685E71D032F}">
      <dgm:prSet/>
      <dgm:spPr/>
      <dgm:t>
        <a:bodyPr/>
        <a:lstStyle/>
        <a:p>
          <a:pPr>
            <a:buNone/>
          </a:pPr>
          <a:r>
            <a:rPr lang="en-GB" b="1" dirty="0"/>
            <a:t>Riot API</a:t>
          </a:r>
          <a:endParaRPr lang="en-US" b="1" dirty="0"/>
        </a:p>
      </dgm:t>
    </dgm:pt>
    <dgm:pt modelId="{910F917E-1C75-4BF5-9C6E-30D3CE99BE63}" type="parTrans" cxnId="{7559A9A6-ECB7-4CCB-BEDC-237BC4BC1A33}">
      <dgm:prSet/>
      <dgm:spPr/>
      <dgm:t>
        <a:bodyPr/>
        <a:lstStyle/>
        <a:p>
          <a:endParaRPr lang="en-US"/>
        </a:p>
      </dgm:t>
    </dgm:pt>
    <dgm:pt modelId="{BD3E7EE8-726E-4958-8ACB-78279DCAACC6}" type="sibTrans" cxnId="{7559A9A6-ECB7-4CCB-BEDC-237BC4BC1A33}">
      <dgm:prSet/>
      <dgm:spPr/>
      <dgm:t>
        <a:bodyPr/>
        <a:lstStyle/>
        <a:p>
          <a:endParaRPr lang="en-US"/>
        </a:p>
      </dgm:t>
    </dgm:pt>
    <dgm:pt modelId="{6EC21CCB-E2F3-47CA-B424-7F4136952BBC}">
      <dgm:prSet/>
      <dgm:spPr/>
      <dgm:t>
        <a:bodyPr/>
        <a:lstStyle/>
        <a:p>
          <a:pPr>
            <a:buNone/>
          </a:pPr>
          <a:r>
            <a:rPr lang="en-GB" b="1" dirty="0"/>
            <a:t>Daily Sample Matches </a:t>
          </a:r>
          <a:r>
            <a:rPr lang="en-GB" b="1" dirty="0">
              <a:sym typeface="Wingdings" panose="05000000000000000000" pitchFamily="2" charset="2"/>
            </a:rPr>
            <a:t> matches[]</a:t>
          </a:r>
          <a:endParaRPr lang="en-US" b="1" dirty="0"/>
        </a:p>
      </dgm:t>
    </dgm:pt>
    <dgm:pt modelId="{D34FC480-2418-4D52-85C8-447C0E55EFFB}" type="parTrans" cxnId="{F76EA667-C9E2-4A5C-9BE0-ED125B004379}">
      <dgm:prSet/>
      <dgm:spPr/>
      <dgm:t>
        <a:bodyPr/>
        <a:lstStyle/>
        <a:p>
          <a:endParaRPr lang="en-US"/>
        </a:p>
      </dgm:t>
    </dgm:pt>
    <dgm:pt modelId="{7CA2D4AC-B420-4009-B80A-B4B201D6017E}" type="sibTrans" cxnId="{F76EA667-C9E2-4A5C-9BE0-ED125B004379}">
      <dgm:prSet/>
      <dgm:spPr/>
      <dgm:t>
        <a:bodyPr/>
        <a:lstStyle/>
        <a:p>
          <a:endParaRPr lang="en-US"/>
        </a:p>
      </dgm:t>
    </dgm:pt>
    <dgm:pt modelId="{DE16FDD4-E9F6-43B0-8307-1C0D3F4ED131}">
      <dgm:prSet/>
      <dgm:spPr/>
      <dgm:t>
        <a:bodyPr/>
        <a:lstStyle/>
        <a:p>
          <a:pPr>
            <a:buNone/>
          </a:pPr>
          <a:r>
            <a:rPr lang="en-GB" b="1" dirty="0"/>
            <a:t>Participants </a:t>
          </a:r>
          <a:r>
            <a:rPr lang="en-GB" b="1" dirty="0">
              <a:sym typeface="Wingdings" panose="05000000000000000000" pitchFamily="2" charset="2"/>
            </a:rPr>
            <a:t> 8 players per match</a:t>
          </a:r>
          <a:endParaRPr lang="en-US" b="1" dirty="0"/>
        </a:p>
      </dgm:t>
    </dgm:pt>
    <dgm:pt modelId="{586619E6-66BF-4221-A9C5-0666AE2C41C8}" type="parTrans" cxnId="{D543EAF1-188C-482B-B36C-634668FD36E3}">
      <dgm:prSet/>
      <dgm:spPr/>
      <dgm:t>
        <a:bodyPr/>
        <a:lstStyle/>
        <a:p>
          <a:endParaRPr lang="en-US"/>
        </a:p>
      </dgm:t>
    </dgm:pt>
    <dgm:pt modelId="{F912BADD-56E6-40EB-A97C-05F1F8C68208}" type="sibTrans" cxnId="{D543EAF1-188C-482B-B36C-634668FD36E3}">
      <dgm:prSet/>
      <dgm:spPr/>
      <dgm:t>
        <a:bodyPr/>
        <a:lstStyle/>
        <a:p>
          <a:endParaRPr lang="en-US"/>
        </a:p>
      </dgm:t>
    </dgm:pt>
    <dgm:pt modelId="{2D553EF2-F660-4F22-9C25-279C93754E0C}">
      <dgm:prSet custT="1"/>
      <dgm:spPr/>
      <dgm:t>
        <a:bodyPr/>
        <a:lstStyle/>
        <a:p>
          <a:r>
            <a:rPr lang="en-GB" sz="1800" b="1" dirty="0"/>
            <a:t>8</a:t>
          </a:r>
          <a:endParaRPr lang="en-US" sz="1800" b="1" dirty="0"/>
        </a:p>
      </dgm:t>
    </dgm:pt>
    <dgm:pt modelId="{58040644-DCA6-496A-A082-A62F046B38A3}" type="parTrans" cxnId="{D1A50F54-8805-4A8A-BDEB-0E7B0D2F2B5E}">
      <dgm:prSet/>
      <dgm:spPr/>
      <dgm:t>
        <a:bodyPr/>
        <a:lstStyle/>
        <a:p>
          <a:endParaRPr lang="en-US"/>
        </a:p>
      </dgm:t>
    </dgm:pt>
    <dgm:pt modelId="{824757E0-DEDD-4CEB-B549-1A362A6448ED}" type="sibTrans" cxnId="{D1A50F54-8805-4A8A-BDEB-0E7B0D2F2B5E}">
      <dgm:prSet/>
      <dgm:spPr/>
      <dgm:t>
        <a:bodyPr/>
        <a:lstStyle/>
        <a:p>
          <a:endParaRPr lang="en-US"/>
        </a:p>
      </dgm:t>
    </dgm:pt>
    <dgm:pt modelId="{60DD2100-6123-4D96-8261-339C693995E2}">
      <dgm:prSet/>
      <dgm:spPr/>
      <dgm:t>
        <a:bodyPr/>
        <a:lstStyle/>
        <a:p>
          <a:pPr>
            <a:buNone/>
          </a:pPr>
          <a:r>
            <a:rPr lang="en-GB" b="1" dirty="0"/>
            <a:t>Comp Builder </a:t>
          </a:r>
          <a:r>
            <a:rPr lang="en-GB" b="1" dirty="0">
              <a:sym typeface="Wingdings" panose="05000000000000000000" pitchFamily="2" charset="2"/>
            </a:rPr>
            <a:t> traits “/BILGEWATER4:XCOMP”</a:t>
          </a:r>
          <a:endParaRPr lang="en-US" b="1" dirty="0"/>
        </a:p>
      </dgm:t>
    </dgm:pt>
    <dgm:pt modelId="{0A861F7D-EEBA-428A-860B-CD8601870FE3}" type="parTrans" cxnId="{14A1AB21-90F8-472A-96D8-0015D90B4FEA}">
      <dgm:prSet/>
      <dgm:spPr/>
      <dgm:t>
        <a:bodyPr/>
        <a:lstStyle/>
        <a:p>
          <a:endParaRPr lang="en-US"/>
        </a:p>
      </dgm:t>
    </dgm:pt>
    <dgm:pt modelId="{F903FAB3-C5A4-41E7-A032-807AC4CC52D2}" type="sibTrans" cxnId="{14A1AB21-90F8-472A-96D8-0015D90B4FEA}">
      <dgm:prSet/>
      <dgm:spPr/>
      <dgm:t>
        <a:bodyPr/>
        <a:lstStyle/>
        <a:p>
          <a:endParaRPr lang="en-US"/>
        </a:p>
      </dgm:t>
    </dgm:pt>
    <dgm:pt modelId="{6DED31C3-A42A-455E-9AC0-93C88143E99A}">
      <dgm:prSet/>
      <dgm:spPr/>
      <dgm:t>
        <a:bodyPr/>
        <a:lstStyle/>
        <a:p>
          <a:pPr>
            <a:buNone/>
          </a:pPr>
          <a:r>
            <a:rPr lang="en-GB" b="1" dirty="0"/>
            <a:t>Stats Engine </a:t>
          </a:r>
          <a:r>
            <a:rPr lang="en-GB" b="1" dirty="0">
              <a:sym typeface="Wingdings" panose="05000000000000000000" pitchFamily="2" charset="2"/>
            </a:rPr>
            <a:t> win_rate / top4_rate / pick_rate</a:t>
          </a:r>
          <a:endParaRPr lang="en-US" b="1" dirty="0"/>
        </a:p>
      </dgm:t>
    </dgm:pt>
    <dgm:pt modelId="{67F5DF90-3412-4A82-9F68-D1366B34BADC}" type="parTrans" cxnId="{B0E9107E-587A-4F7E-A7E7-D4B621B4BCDB}">
      <dgm:prSet/>
      <dgm:spPr/>
      <dgm:t>
        <a:bodyPr/>
        <a:lstStyle/>
        <a:p>
          <a:endParaRPr lang="en-US"/>
        </a:p>
      </dgm:t>
    </dgm:pt>
    <dgm:pt modelId="{EE6B1A2D-EDE0-4C25-B7A5-A83AA392DF85}" type="sibTrans" cxnId="{B0E9107E-587A-4F7E-A7E7-D4B621B4BCDB}">
      <dgm:prSet/>
      <dgm:spPr/>
      <dgm:t>
        <a:bodyPr/>
        <a:lstStyle/>
        <a:p>
          <a:endParaRPr lang="en-US"/>
        </a:p>
      </dgm:t>
    </dgm:pt>
    <dgm:pt modelId="{A9D335E7-63D9-4C9C-8054-1351544B6748}">
      <dgm:prSet/>
      <dgm:spPr/>
      <dgm:t>
        <a:bodyPr/>
        <a:lstStyle/>
        <a:p>
          <a:pPr>
            <a:buNone/>
          </a:pPr>
          <a:r>
            <a:rPr lang="en-GB" b="1" dirty="0"/>
            <a:t>UI Terminal </a:t>
          </a:r>
          <a:r>
            <a:rPr lang="en-GB" b="1" dirty="0">
              <a:sym typeface="Wingdings" panose="05000000000000000000" pitchFamily="2" charset="2"/>
            </a:rPr>
            <a:t> instruments table + daily chart</a:t>
          </a:r>
          <a:endParaRPr lang="en-US" b="1" dirty="0"/>
        </a:p>
      </dgm:t>
    </dgm:pt>
    <dgm:pt modelId="{30554525-FE3F-4188-AA99-4631B78B8C4C}" type="parTrans" cxnId="{385519F9-9ABF-4C65-9FF6-4CD1F9B3DA8C}">
      <dgm:prSet/>
      <dgm:spPr/>
      <dgm:t>
        <a:bodyPr/>
        <a:lstStyle/>
        <a:p>
          <a:endParaRPr lang="en-US"/>
        </a:p>
      </dgm:t>
    </dgm:pt>
    <dgm:pt modelId="{FA830423-DFE3-46C2-94B5-F533F9D7E42F}" type="sibTrans" cxnId="{385519F9-9ABF-4C65-9FF6-4CD1F9B3DA8C}">
      <dgm:prSet/>
      <dgm:spPr/>
      <dgm:t>
        <a:bodyPr/>
        <a:lstStyle/>
        <a:p>
          <a:endParaRPr lang="en-US"/>
        </a:p>
      </dgm:t>
    </dgm:pt>
    <dgm:pt modelId="{6A55AE29-1467-41F1-8479-3E24269F3779}">
      <dgm:prSet phldrT="[Text]" phldr="0" custT="1"/>
      <dgm:spPr/>
      <dgm:t>
        <a:bodyPr/>
        <a:lstStyle/>
        <a:p>
          <a:r>
            <a:rPr lang="en-GB" sz="1800" b="1" dirty="0"/>
            <a:t>6</a:t>
          </a:r>
          <a:endParaRPr lang="en-US" sz="1300" b="1" dirty="0"/>
        </a:p>
      </dgm:t>
    </dgm:pt>
    <dgm:pt modelId="{4033748E-8062-4BA5-B9D9-216D833B73D4}" type="sibTrans" cxnId="{2D8BB8E1-F511-4F20-A650-BD076EA448CD}">
      <dgm:prSet/>
      <dgm:spPr/>
      <dgm:t>
        <a:bodyPr/>
        <a:lstStyle/>
        <a:p>
          <a:endParaRPr lang="en-US"/>
        </a:p>
      </dgm:t>
    </dgm:pt>
    <dgm:pt modelId="{42304AAF-A89F-40DF-95BD-6F45B72D87D1}" type="parTrans" cxnId="{2D8BB8E1-F511-4F20-A650-BD076EA448CD}">
      <dgm:prSet/>
      <dgm:spPr/>
      <dgm:t>
        <a:bodyPr/>
        <a:lstStyle/>
        <a:p>
          <a:endParaRPr lang="en-US"/>
        </a:p>
      </dgm:t>
    </dgm:pt>
    <dgm:pt modelId="{3840AD6B-45A3-4D96-9768-76E1B34FB37C}" type="pres">
      <dgm:prSet presAssocID="{3FC5445A-051B-4D44-946D-84F57CD0F9A0}" presName="linearFlow" presStyleCnt="0">
        <dgm:presLayoutVars>
          <dgm:dir/>
          <dgm:animLvl val="lvl"/>
          <dgm:resizeHandles val="exact"/>
        </dgm:presLayoutVars>
      </dgm:prSet>
      <dgm:spPr/>
    </dgm:pt>
    <dgm:pt modelId="{F2793A38-445F-4D97-8495-ED95D30CF9E6}" type="pres">
      <dgm:prSet presAssocID="{3A8295D4-22C9-48A8-B7AF-21C5C6810A20}" presName="composite" presStyleCnt="0"/>
      <dgm:spPr/>
    </dgm:pt>
    <dgm:pt modelId="{B5D40B20-55FF-479F-858C-953299E0C254}" type="pres">
      <dgm:prSet presAssocID="{3A8295D4-22C9-48A8-B7AF-21C5C6810A20}" presName="parentText" presStyleLbl="alignNode1" presStyleIdx="0" presStyleCnt="8" custLinFactNeighborX="-14565" custLinFactNeighborY="2266">
        <dgm:presLayoutVars>
          <dgm:chMax val="1"/>
          <dgm:bulletEnabled val="1"/>
        </dgm:presLayoutVars>
      </dgm:prSet>
      <dgm:spPr/>
    </dgm:pt>
    <dgm:pt modelId="{9653EA0E-9B6F-48E4-91F7-59E4EE55E95C}" type="pres">
      <dgm:prSet presAssocID="{3A8295D4-22C9-48A8-B7AF-21C5C6810A20}" presName="descendantText" presStyleLbl="alignAcc1" presStyleIdx="0" presStyleCnt="8">
        <dgm:presLayoutVars>
          <dgm:bulletEnabled val="1"/>
        </dgm:presLayoutVars>
      </dgm:prSet>
      <dgm:spPr/>
    </dgm:pt>
    <dgm:pt modelId="{597A5BFF-143A-42A8-840E-62BD2C752CFF}" type="pres">
      <dgm:prSet presAssocID="{DA446394-5910-40FE-8543-E2660794AEA6}" presName="sp" presStyleCnt="0"/>
      <dgm:spPr/>
    </dgm:pt>
    <dgm:pt modelId="{C001C145-94FE-40A8-BBB3-5EA987433588}" type="pres">
      <dgm:prSet presAssocID="{91C79202-F280-4672-ACB2-0451B34A2E40}" presName="composite" presStyleCnt="0"/>
      <dgm:spPr/>
    </dgm:pt>
    <dgm:pt modelId="{ACAE9E4B-721E-4F05-B297-E10E96CAC817}" type="pres">
      <dgm:prSet presAssocID="{91C79202-F280-4672-ACB2-0451B34A2E40}" presName="parentText" presStyleLbl="alignNode1" presStyleIdx="1" presStyleCnt="8">
        <dgm:presLayoutVars>
          <dgm:chMax val="1"/>
          <dgm:bulletEnabled val="1"/>
        </dgm:presLayoutVars>
      </dgm:prSet>
      <dgm:spPr/>
    </dgm:pt>
    <dgm:pt modelId="{09FE9FEF-D054-4C69-B563-215FC4C21EC7}" type="pres">
      <dgm:prSet presAssocID="{91C79202-F280-4672-ACB2-0451B34A2E40}" presName="descendantText" presStyleLbl="alignAcc1" presStyleIdx="1" presStyleCnt="8">
        <dgm:presLayoutVars>
          <dgm:bulletEnabled val="1"/>
        </dgm:presLayoutVars>
      </dgm:prSet>
      <dgm:spPr/>
    </dgm:pt>
    <dgm:pt modelId="{108B3937-B5C7-46B5-A8E0-0461F730F753}" type="pres">
      <dgm:prSet presAssocID="{506674A7-A9E2-40AE-9451-88D7C46FAC01}" presName="sp" presStyleCnt="0"/>
      <dgm:spPr/>
    </dgm:pt>
    <dgm:pt modelId="{EA718AA9-E779-47D1-B8F8-01AF5209FBD2}" type="pres">
      <dgm:prSet presAssocID="{A756A76E-6601-4EFD-A0E4-B7185E9BEDBB}" presName="composite" presStyleCnt="0"/>
      <dgm:spPr/>
    </dgm:pt>
    <dgm:pt modelId="{10CCC1F7-8F27-40A4-83C1-B5E006FCABDF}" type="pres">
      <dgm:prSet presAssocID="{A756A76E-6601-4EFD-A0E4-B7185E9BEDBB}" presName="parentText" presStyleLbl="alignNode1" presStyleIdx="2" presStyleCnt="8">
        <dgm:presLayoutVars>
          <dgm:chMax val="1"/>
          <dgm:bulletEnabled val="1"/>
        </dgm:presLayoutVars>
      </dgm:prSet>
      <dgm:spPr/>
    </dgm:pt>
    <dgm:pt modelId="{D34F9F9C-B951-4C81-A6B7-CDDC20188758}" type="pres">
      <dgm:prSet presAssocID="{A756A76E-6601-4EFD-A0E4-B7185E9BEDBB}" presName="descendantText" presStyleLbl="alignAcc1" presStyleIdx="2" presStyleCnt="8">
        <dgm:presLayoutVars>
          <dgm:bulletEnabled val="1"/>
        </dgm:presLayoutVars>
      </dgm:prSet>
      <dgm:spPr/>
    </dgm:pt>
    <dgm:pt modelId="{3497C17A-C5FD-4EEC-9349-6676480CCEAD}" type="pres">
      <dgm:prSet presAssocID="{958CC1F0-E92A-40E8-B81B-A00FD7011DA7}" presName="sp" presStyleCnt="0"/>
      <dgm:spPr/>
    </dgm:pt>
    <dgm:pt modelId="{0785F58C-B860-48DB-886B-D6D5C35DD874}" type="pres">
      <dgm:prSet presAssocID="{2847BF94-7710-496A-AEB0-31C5C0546D13}" presName="composite" presStyleCnt="0"/>
      <dgm:spPr/>
    </dgm:pt>
    <dgm:pt modelId="{40C2D11B-E0EF-444B-804A-58930595EB57}" type="pres">
      <dgm:prSet presAssocID="{2847BF94-7710-496A-AEB0-31C5C0546D13}" presName="parentText" presStyleLbl="alignNode1" presStyleIdx="3" presStyleCnt="8">
        <dgm:presLayoutVars>
          <dgm:chMax val="1"/>
          <dgm:bulletEnabled val="1"/>
        </dgm:presLayoutVars>
      </dgm:prSet>
      <dgm:spPr/>
    </dgm:pt>
    <dgm:pt modelId="{4CBCA3A8-B9C9-4F35-8077-4D4B82F60543}" type="pres">
      <dgm:prSet presAssocID="{2847BF94-7710-496A-AEB0-31C5C0546D13}" presName="descendantText" presStyleLbl="alignAcc1" presStyleIdx="3" presStyleCnt="8">
        <dgm:presLayoutVars>
          <dgm:bulletEnabled val="1"/>
        </dgm:presLayoutVars>
      </dgm:prSet>
      <dgm:spPr/>
    </dgm:pt>
    <dgm:pt modelId="{DB6DBD9A-0559-4C33-9D80-D45D88208E63}" type="pres">
      <dgm:prSet presAssocID="{DB78305D-AD17-4B7B-BE2C-4A1AD8676716}" presName="sp" presStyleCnt="0"/>
      <dgm:spPr/>
    </dgm:pt>
    <dgm:pt modelId="{F9A1F5E5-6695-486C-BFD8-7F128D95C163}" type="pres">
      <dgm:prSet presAssocID="{F68BC870-7B32-46FF-A384-D61019D27220}" presName="composite" presStyleCnt="0"/>
      <dgm:spPr/>
    </dgm:pt>
    <dgm:pt modelId="{F4B1F6B5-A72D-4230-93A1-BBD82CAA3E85}" type="pres">
      <dgm:prSet presAssocID="{F68BC870-7B32-46FF-A384-D61019D27220}" presName="parentText" presStyleLbl="alignNode1" presStyleIdx="4" presStyleCnt="8">
        <dgm:presLayoutVars>
          <dgm:chMax val="1"/>
          <dgm:bulletEnabled val="1"/>
        </dgm:presLayoutVars>
      </dgm:prSet>
      <dgm:spPr/>
    </dgm:pt>
    <dgm:pt modelId="{BD95D891-3733-42D7-84D9-C1AC5D7495C1}" type="pres">
      <dgm:prSet presAssocID="{F68BC870-7B32-46FF-A384-D61019D27220}" presName="descendantText" presStyleLbl="alignAcc1" presStyleIdx="4" presStyleCnt="8">
        <dgm:presLayoutVars>
          <dgm:bulletEnabled val="1"/>
        </dgm:presLayoutVars>
      </dgm:prSet>
      <dgm:spPr/>
    </dgm:pt>
    <dgm:pt modelId="{120E30FA-4C30-4A41-BCC5-FABDCC2839D1}" type="pres">
      <dgm:prSet presAssocID="{8F4B1BBD-9132-4272-ACE2-5B1F129A2BC3}" presName="sp" presStyleCnt="0"/>
      <dgm:spPr/>
    </dgm:pt>
    <dgm:pt modelId="{FC2BD5BA-619C-497A-AA07-23928B682317}" type="pres">
      <dgm:prSet presAssocID="{6A55AE29-1467-41F1-8479-3E24269F3779}" presName="composite" presStyleCnt="0"/>
      <dgm:spPr/>
    </dgm:pt>
    <dgm:pt modelId="{C3AABD2B-1BE9-4776-985B-A2ED9C510F75}" type="pres">
      <dgm:prSet presAssocID="{6A55AE29-1467-41F1-8479-3E24269F3779}" presName="parentText" presStyleLbl="alignNode1" presStyleIdx="5" presStyleCnt="8">
        <dgm:presLayoutVars>
          <dgm:chMax val="1"/>
          <dgm:bulletEnabled val="1"/>
        </dgm:presLayoutVars>
      </dgm:prSet>
      <dgm:spPr/>
    </dgm:pt>
    <dgm:pt modelId="{6DCBE802-F640-4495-A8F0-66A6702EC58D}" type="pres">
      <dgm:prSet presAssocID="{6A55AE29-1467-41F1-8479-3E24269F3779}" presName="descendantText" presStyleLbl="alignAcc1" presStyleIdx="5" presStyleCnt="8">
        <dgm:presLayoutVars>
          <dgm:bulletEnabled val="1"/>
        </dgm:presLayoutVars>
      </dgm:prSet>
      <dgm:spPr/>
    </dgm:pt>
    <dgm:pt modelId="{C2D39B11-8A5A-4935-8731-3E89ED8D9B5C}" type="pres">
      <dgm:prSet presAssocID="{4033748E-8062-4BA5-B9D9-216D833B73D4}" presName="sp" presStyleCnt="0"/>
      <dgm:spPr/>
    </dgm:pt>
    <dgm:pt modelId="{1F85DB6E-EDD2-4B53-8FA2-CA9F6886772F}" type="pres">
      <dgm:prSet presAssocID="{3B84C50A-769C-4E4F-BC13-3635173365A2}" presName="composite" presStyleCnt="0"/>
      <dgm:spPr/>
    </dgm:pt>
    <dgm:pt modelId="{876048CC-523E-4F89-A2BF-113B562AE4E9}" type="pres">
      <dgm:prSet presAssocID="{3B84C50A-769C-4E4F-BC13-3635173365A2}" presName="parentText" presStyleLbl="alignNode1" presStyleIdx="6" presStyleCnt="8">
        <dgm:presLayoutVars>
          <dgm:chMax val="1"/>
          <dgm:bulletEnabled val="1"/>
        </dgm:presLayoutVars>
      </dgm:prSet>
      <dgm:spPr/>
    </dgm:pt>
    <dgm:pt modelId="{FC51BA13-AAFB-4A5D-B568-3C670752F9C9}" type="pres">
      <dgm:prSet presAssocID="{3B84C50A-769C-4E4F-BC13-3635173365A2}" presName="descendantText" presStyleLbl="alignAcc1" presStyleIdx="6" presStyleCnt="8">
        <dgm:presLayoutVars>
          <dgm:bulletEnabled val="1"/>
        </dgm:presLayoutVars>
      </dgm:prSet>
      <dgm:spPr/>
    </dgm:pt>
    <dgm:pt modelId="{C3C26C5E-7029-468D-93B4-5F0A8A234EB4}" type="pres">
      <dgm:prSet presAssocID="{5EE6C59E-F185-471B-AC5A-1FAD0B81C461}" presName="sp" presStyleCnt="0"/>
      <dgm:spPr/>
    </dgm:pt>
    <dgm:pt modelId="{E7973AC2-C3DB-484F-B439-A5D5C56586B9}" type="pres">
      <dgm:prSet presAssocID="{2D553EF2-F660-4F22-9C25-279C93754E0C}" presName="composite" presStyleCnt="0"/>
      <dgm:spPr/>
    </dgm:pt>
    <dgm:pt modelId="{12CD051B-E097-4F5B-9EB0-F59561F648F9}" type="pres">
      <dgm:prSet presAssocID="{2D553EF2-F660-4F22-9C25-279C93754E0C}" presName="parentText" presStyleLbl="alignNode1" presStyleIdx="7" presStyleCnt="8">
        <dgm:presLayoutVars>
          <dgm:chMax val="1"/>
          <dgm:bulletEnabled val="1"/>
        </dgm:presLayoutVars>
      </dgm:prSet>
      <dgm:spPr/>
    </dgm:pt>
    <dgm:pt modelId="{E5BC6201-707A-412C-B8D4-136161518BCE}" type="pres">
      <dgm:prSet presAssocID="{2D553EF2-F660-4F22-9C25-279C93754E0C}" presName="descendantText" presStyleLbl="alignAcc1" presStyleIdx="7" presStyleCnt="8">
        <dgm:presLayoutVars>
          <dgm:bulletEnabled val="1"/>
        </dgm:presLayoutVars>
      </dgm:prSet>
      <dgm:spPr/>
    </dgm:pt>
  </dgm:ptLst>
  <dgm:cxnLst>
    <dgm:cxn modelId="{0D0E3A07-28A6-4E77-8A68-9F229F00CF71}" srcId="{6A55AE29-1467-41F1-8479-3E24269F3779}" destId="{B6350654-0FC3-4ADA-9D58-3991B88D0B06}" srcOrd="0" destOrd="0" parTransId="{9C64D6A1-DF8E-45FD-9BDA-D69467E914E2}" sibTransId="{5CD20967-9CB6-4BFE-AC29-7AD01B78EACB}"/>
    <dgm:cxn modelId="{14A1AB21-90F8-472A-96D8-0015D90B4FEA}" srcId="{2847BF94-7710-496A-AEB0-31C5C0546D13}" destId="{60DD2100-6123-4D96-8261-339C693995E2}" srcOrd="0" destOrd="0" parTransId="{0A861F7D-EEBA-428A-860B-CD8601870FE3}" sibTransId="{F903FAB3-C5A4-41E7-A032-807AC4CC52D2}"/>
    <dgm:cxn modelId="{F0ECF734-2835-428D-96A7-62C7AB3EBC75}" srcId="{3FC5445A-051B-4D44-946D-84F57CD0F9A0}" destId="{F68BC870-7B32-46FF-A384-D61019D27220}" srcOrd="4" destOrd="0" parTransId="{6065D407-3042-4AEF-A0DF-2D11CAA0E4CE}" sibTransId="{8F4B1BBD-9132-4272-ACE2-5B1F129A2BC3}"/>
    <dgm:cxn modelId="{B5EC8838-49C5-4609-B3FC-4E3EE23191DF}" type="presOf" srcId="{6DED31C3-A42A-455E-9AC0-93C88143E99A}" destId="{BD95D891-3733-42D7-84D9-C1AC5D7495C1}" srcOrd="0" destOrd="0" presId="urn:microsoft.com/office/officeart/2005/8/layout/chevron2"/>
    <dgm:cxn modelId="{F76EA667-C9E2-4A5C-9BE0-ED125B004379}" srcId="{91C79202-F280-4672-ACB2-0451B34A2E40}" destId="{6EC21CCB-E2F3-47CA-B424-7F4136952BBC}" srcOrd="0" destOrd="0" parTransId="{D34FC480-2418-4D52-85C8-447C0E55EFFB}" sibTransId="{7CA2D4AC-B420-4009-B80A-B4B201D6017E}"/>
    <dgm:cxn modelId="{7F2B196B-9535-4DB9-9466-88DE3702D294}" srcId="{3FC5445A-051B-4D44-946D-84F57CD0F9A0}" destId="{A756A76E-6601-4EFD-A0E4-B7185E9BEDBB}" srcOrd="2" destOrd="0" parTransId="{962B7675-FAAD-4ECB-843C-01D2C074CA82}" sibTransId="{958CC1F0-E92A-40E8-B81B-A00FD7011DA7}"/>
    <dgm:cxn modelId="{3465DE4E-76A2-4FE8-8675-E5B0440BC9C2}" srcId="{3B84C50A-769C-4E4F-BC13-3635173365A2}" destId="{7F3A3338-88F6-4619-8D42-1D59DD678CFD}" srcOrd="0" destOrd="0" parTransId="{923AEC09-4B1D-4769-9AF3-9A7B316015AF}" sibTransId="{66E579C6-96AF-40FE-AEAD-9DE6B7B5C280}"/>
    <dgm:cxn modelId="{1611C873-B8DD-4E37-AB9C-E57994C05C8B}" type="presOf" srcId="{3FC5445A-051B-4D44-946D-84F57CD0F9A0}" destId="{3840AD6B-45A3-4D96-9768-76E1B34FB37C}" srcOrd="0" destOrd="0" presId="urn:microsoft.com/office/officeart/2005/8/layout/chevron2"/>
    <dgm:cxn modelId="{D1A50F54-8805-4A8A-BDEB-0E7B0D2F2B5E}" srcId="{3FC5445A-051B-4D44-946D-84F57CD0F9A0}" destId="{2D553EF2-F660-4F22-9C25-279C93754E0C}" srcOrd="7" destOrd="0" parTransId="{58040644-DCA6-496A-A082-A62F046B38A3}" sibTransId="{824757E0-DEDD-4CEB-B549-1A362A6448ED}"/>
    <dgm:cxn modelId="{27600E5A-A3C8-4F7A-BE6D-AA8BC57D42C4}" type="presOf" srcId="{60DD2100-6123-4D96-8261-339C693995E2}" destId="{4CBCA3A8-B9C9-4F35-8077-4D4B82F60543}" srcOrd="0" destOrd="0" presId="urn:microsoft.com/office/officeart/2005/8/layout/chevron2"/>
    <dgm:cxn modelId="{B0E9107E-587A-4F7E-A7E7-D4B621B4BCDB}" srcId="{F68BC870-7B32-46FF-A384-D61019D27220}" destId="{6DED31C3-A42A-455E-9AC0-93C88143E99A}" srcOrd="0" destOrd="0" parTransId="{67F5DF90-3412-4A82-9F68-D1366B34BADC}" sibTransId="{EE6B1A2D-EDE0-4C25-B7A5-A83AA392DF85}"/>
    <dgm:cxn modelId="{918F3981-EF99-4D4A-9FBD-52709D7B6562}" srcId="{3FC5445A-051B-4D44-946D-84F57CD0F9A0}" destId="{3A8295D4-22C9-48A8-B7AF-21C5C6810A20}" srcOrd="0" destOrd="0" parTransId="{7B23AFB7-B6C6-4859-9386-500F2DADAD08}" sibTransId="{DA446394-5910-40FE-8543-E2660794AEA6}"/>
    <dgm:cxn modelId="{EC052084-57A4-44ED-8206-835B36CFD0E8}" type="presOf" srcId="{3A8295D4-22C9-48A8-B7AF-21C5C6810A20}" destId="{B5D40B20-55FF-479F-858C-953299E0C254}" srcOrd="0" destOrd="0" presId="urn:microsoft.com/office/officeart/2005/8/layout/chevron2"/>
    <dgm:cxn modelId="{6AF13685-45AE-4BBA-A10F-DC246114C2C2}" type="presOf" srcId="{DE16FDD4-E9F6-43B0-8307-1C0D3F4ED131}" destId="{D34F9F9C-B951-4C81-A6B7-CDDC20188758}" srcOrd="0" destOrd="0" presId="urn:microsoft.com/office/officeart/2005/8/layout/chevron2"/>
    <dgm:cxn modelId="{6356BD89-06AF-4B4A-93D4-A7306BD4CF53}" type="presOf" srcId="{6EC21CCB-E2F3-47CA-B424-7F4136952BBC}" destId="{09FE9FEF-D054-4C69-B563-215FC4C21EC7}" srcOrd="0" destOrd="0" presId="urn:microsoft.com/office/officeart/2005/8/layout/chevron2"/>
    <dgm:cxn modelId="{4ACC4B93-EEC3-4E02-BBFC-27BE15081F5D}" type="presOf" srcId="{A9D335E7-63D9-4C9C-8054-1351544B6748}" destId="{E5BC6201-707A-412C-B8D4-136161518BCE}" srcOrd="0" destOrd="0" presId="urn:microsoft.com/office/officeart/2005/8/layout/chevron2"/>
    <dgm:cxn modelId="{0D3F5296-8898-4935-8584-C0AA3F3DFECC}" type="presOf" srcId="{6A55AE29-1467-41F1-8479-3E24269F3779}" destId="{C3AABD2B-1BE9-4776-985B-A2ED9C510F75}" srcOrd="0" destOrd="0" presId="urn:microsoft.com/office/officeart/2005/8/layout/chevron2"/>
    <dgm:cxn modelId="{D770DD97-2B6B-4E77-B712-4376F234CD96}" type="presOf" srcId="{7F3A3338-88F6-4619-8D42-1D59DD678CFD}" destId="{FC51BA13-AAFB-4A5D-B568-3C670752F9C9}" srcOrd="0" destOrd="0" presId="urn:microsoft.com/office/officeart/2005/8/layout/chevron2"/>
    <dgm:cxn modelId="{7559A9A6-ECB7-4CCB-BEDC-237BC4BC1A33}" srcId="{3A8295D4-22C9-48A8-B7AF-21C5C6810A20}" destId="{B900221D-C471-4300-AB36-4685E71D032F}" srcOrd="0" destOrd="0" parTransId="{910F917E-1C75-4BF5-9C6E-30D3CE99BE63}" sibTransId="{BD3E7EE8-726E-4958-8ACB-78279DCAACC6}"/>
    <dgm:cxn modelId="{9E439AA7-AA86-4AC4-8F88-4AC0918D05FD}" type="presOf" srcId="{2D553EF2-F660-4F22-9C25-279C93754E0C}" destId="{12CD051B-E097-4F5B-9EB0-F59561F648F9}" srcOrd="0" destOrd="0" presId="urn:microsoft.com/office/officeart/2005/8/layout/chevron2"/>
    <dgm:cxn modelId="{07AF60B0-C469-487B-9E91-81C9C83B06E9}" type="presOf" srcId="{3B84C50A-769C-4E4F-BC13-3635173365A2}" destId="{876048CC-523E-4F89-A2BF-113B562AE4E9}" srcOrd="0" destOrd="0" presId="urn:microsoft.com/office/officeart/2005/8/layout/chevron2"/>
    <dgm:cxn modelId="{F36086BD-EFE3-4104-B38C-D713F3725881}" type="presOf" srcId="{A756A76E-6601-4EFD-A0E4-B7185E9BEDBB}" destId="{10CCC1F7-8F27-40A4-83C1-B5E006FCABDF}" srcOrd="0" destOrd="0" presId="urn:microsoft.com/office/officeart/2005/8/layout/chevron2"/>
    <dgm:cxn modelId="{7E3538C0-68E7-465F-BD73-715A2098B95A}" srcId="{3FC5445A-051B-4D44-946D-84F57CD0F9A0}" destId="{3B84C50A-769C-4E4F-BC13-3635173365A2}" srcOrd="6" destOrd="0" parTransId="{B2AE4A37-4901-449E-8C3F-20AC1D8EA70C}" sibTransId="{5EE6C59E-F185-471B-AC5A-1FAD0B81C461}"/>
    <dgm:cxn modelId="{1F3039C7-441B-4759-AC6A-9F7BA205C7B9}" type="presOf" srcId="{F68BC870-7B32-46FF-A384-D61019D27220}" destId="{F4B1F6B5-A72D-4230-93A1-BBD82CAA3E85}" srcOrd="0" destOrd="0" presId="urn:microsoft.com/office/officeart/2005/8/layout/chevron2"/>
    <dgm:cxn modelId="{644E38D7-801F-4441-BE04-E09E6422360E}" srcId="{3FC5445A-051B-4D44-946D-84F57CD0F9A0}" destId="{91C79202-F280-4672-ACB2-0451B34A2E40}" srcOrd="1" destOrd="0" parTransId="{B5E10CAC-D87E-425C-89CF-2BD420B080AF}" sibTransId="{506674A7-A9E2-40AE-9451-88D7C46FAC01}"/>
    <dgm:cxn modelId="{2D8BB8E1-F511-4F20-A650-BD076EA448CD}" srcId="{3FC5445A-051B-4D44-946D-84F57CD0F9A0}" destId="{6A55AE29-1467-41F1-8479-3E24269F3779}" srcOrd="5" destOrd="0" parTransId="{42304AAF-A89F-40DF-95BD-6F45B72D87D1}" sibTransId="{4033748E-8062-4BA5-B9D9-216D833B73D4}"/>
    <dgm:cxn modelId="{DB3B40E4-E07C-4557-9454-9CEF89919A07}" type="presOf" srcId="{91C79202-F280-4672-ACB2-0451B34A2E40}" destId="{ACAE9E4B-721E-4F05-B297-E10E96CAC817}" srcOrd="0" destOrd="0" presId="urn:microsoft.com/office/officeart/2005/8/layout/chevron2"/>
    <dgm:cxn modelId="{D543EAF1-188C-482B-B36C-634668FD36E3}" srcId="{A756A76E-6601-4EFD-A0E4-B7185E9BEDBB}" destId="{DE16FDD4-E9F6-43B0-8307-1C0D3F4ED131}" srcOrd="0" destOrd="0" parTransId="{586619E6-66BF-4221-A9C5-0666AE2C41C8}" sibTransId="{F912BADD-56E6-40EB-A97C-05F1F8C68208}"/>
    <dgm:cxn modelId="{DF25B0F6-3022-460C-921F-056B8D272618}" type="presOf" srcId="{2847BF94-7710-496A-AEB0-31C5C0546D13}" destId="{40C2D11B-E0EF-444B-804A-58930595EB57}" srcOrd="0" destOrd="0" presId="urn:microsoft.com/office/officeart/2005/8/layout/chevron2"/>
    <dgm:cxn modelId="{79B83FF8-C345-4D90-96A6-0EF7A0BE4963}" type="presOf" srcId="{B900221D-C471-4300-AB36-4685E71D032F}" destId="{9653EA0E-9B6F-48E4-91F7-59E4EE55E95C}" srcOrd="0" destOrd="0" presId="urn:microsoft.com/office/officeart/2005/8/layout/chevron2"/>
    <dgm:cxn modelId="{385519F9-9ABF-4C65-9FF6-4CD1F9B3DA8C}" srcId="{2D553EF2-F660-4F22-9C25-279C93754E0C}" destId="{A9D335E7-63D9-4C9C-8054-1351544B6748}" srcOrd="0" destOrd="0" parTransId="{30554525-FE3F-4188-AA99-4631B78B8C4C}" sibTransId="{FA830423-DFE3-46C2-94B5-F533F9D7E42F}"/>
    <dgm:cxn modelId="{5380B4FA-C1A5-456C-A2B3-4AC384F916E3}" srcId="{3FC5445A-051B-4D44-946D-84F57CD0F9A0}" destId="{2847BF94-7710-496A-AEB0-31C5C0546D13}" srcOrd="3" destOrd="0" parTransId="{7DC7FEFD-EBFF-4E91-A969-6921C7C4509C}" sibTransId="{DB78305D-AD17-4B7B-BE2C-4A1AD8676716}"/>
    <dgm:cxn modelId="{BC06D7FD-2C6C-452D-B040-DEA63E47455A}" type="presOf" srcId="{B6350654-0FC3-4ADA-9D58-3991B88D0B06}" destId="{6DCBE802-F640-4495-A8F0-66A6702EC58D}" srcOrd="0" destOrd="0" presId="urn:microsoft.com/office/officeart/2005/8/layout/chevron2"/>
    <dgm:cxn modelId="{79BD668B-CA5A-48A2-B531-31F3A716FCB2}" type="presParOf" srcId="{3840AD6B-45A3-4D96-9768-76E1B34FB37C}" destId="{F2793A38-445F-4D97-8495-ED95D30CF9E6}" srcOrd="0" destOrd="0" presId="urn:microsoft.com/office/officeart/2005/8/layout/chevron2"/>
    <dgm:cxn modelId="{011466B1-B89A-409E-BDA2-EA4D16C25D1C}" type="presParOf" srcId="{F2793A38-445F-4D97-8495-ED95D30CF9E6}" destId="{B5D40B20-55FF-479F-858C-953299E0C254}" srcOrd="0" destOrd="0" presId="urn:microsoft.com/office/officeart/2005/8/layout/chevron2"/>
    <dgm:cxn modelId="{668AE5DF-0F24-4B2B-AD23-50BCF77956B3}" type="presParOf" srcId="{F2793A38-445F-4D97-8495-ED95D30CF9E6}" destId="{9653EA0E-9B6F-48E4-91F7-59E4EE55E95C}" srcOrd="1" destOrd="0" presId="urn:microsoft.com/office/officeart/2005/8/layout/chevron2"/>
    <dgm:cxn modelId="{03AB4832-85FD-4CF4-84F1-E4E885047C3C}" type="presParOf" srcId="{3840AD6B-45A3-4D96-9768-76E1B34FB37C}" destId="{597A5BFF-143A-42A8-840E-62BD2C752CFF}" srcOrd="1" destOrd="0" presId="urn:microsoft.com/office/officeart/2005/8/layout/chevron2"/>
    <dgm:cxn modelId="{074F1B18-5BA5-4999-909A-E3532C1D6EEF}" type="presParOf" srcId="{3840AD6B-45A3-4D96-9768-76E1B34FB37C}" destId="{C001C145-94FE-40A8-BBB3-5EA987433588}" srcOrd="2" destOrd="0" presId="urn:microsoft.com/office/officeart/2005/8/layout/chevron2"/>
    <dgm:cxn modelId="{03248B50-3168-4329-9A32-11D2356CBF38}" type="presParOf" srcId="{C001C145-94FE-40A8-BBB3-5EA987433588}" destId="{ACAE9E4B-721E-4F05-B297-E10E96CAC817}" srcOrd="0" destOrd="0" presId="urn:microsoft.com/office/officeart/2005/8/layout/chevron2"/>
    <dgm:cxn modelId="{4B915DEE-819F-4B72-9596-E1FEDCB35DC0}" type="presParOf" srcId="{C001C145-94FE-40A8-BBB3-5EA987433588}" destId="{09FE9FEF-D054-4C69-B563-215FC4C21EC7}" srcOrd="1" destOrd="0" presId="urn:microsoft.com/office/officeart/2005/8/layout/chevron2"/>
    <dgm:cxn modelId="{D062D3AB-48DE-49AE-8D24-2CE6D30F095F}" type="presParOf" srcId="{3840AD6B-45A3-4D96-9768-76E1B34FB37C}" destId="{108B3937-B5C7-46B5-A8E0-0461F730F753}" srcOrd="3" destOrd="0" presId="urn:microsoft.com/office/officeart/2005/8/layout/chevron2"/>
    <dgm:cxn modelId="{929F0E93-7E68-4545-9E45-A57EB946F447}" type="presParOf" srcId="{3840AD6B-45A3-4D96-9768-76E1B34FB37C}" destId="{EA718AA9-E779-47D1-B8F8-01AF5209FBD2}" srcOrd="4" destOrd="0" presId="urn:microsoft.com/office/officeart/2005/8/layout/chevron2"/>
    <dgm:cxn modelId="{58381DE2-D5FA-4423-9003-C8AA87D487BC}" type="presParOf" srcId="{EA718AA9-E779-47D1-B8F8-01AF5209FBD2}" destId="{10CCC1F7-8F27-40A4-83C1-B5E006FCABDF}" srcOrd="0" destOrd="0" presId="urn:microsoft.com/office/officeart/2005/8/layout/chevron2"/>
    <dgm:cxn modelId="{7623339E-B1BF-4B79-B41F-5B0FC1F21134}" type="presParOf" srcId="{EA718AA9-E779-47D1-B8F8-01AF5209FBD2}" destId="{D34F9F9C-B951-4C81-A6B7-CDDC20188758}" srcOrd="1" destOrd="0" presId="urn:microsoft.com/office/officeart/2005/8/layout/chevron2"/>
    <dgm:cxn modelId="{C2C9739E-D4DD-465E-8551-014B9436297B}" type="presParOf" srcId="{3840AD6B-45A3-4D96-9768-76E1B34FB37C}" destId="{3497C17A-C5FD-4EEC-9349-6676480CCEAD}" srcOrd="5" destOrd="0" presId="urn:microsoft.com/office/officeart/2005/8/layout/chevron2"/>
    <dgm:cxn modelId="{E554CD09-17A1-4248-8338-A5077B6D7C9A}" type="presParOf" srcId="{3840AD6B-45A3-4D96-9768-76E1B34FB37C}" destId="{0785F58C-B860-48DB-886B-D6D5C35DD874}" srcOrd="6" destOrd="0" presId="urn:microsoft.com/office/officeart/2005/8/layout/chevron2"/>
    <dgm:cxn modelId="{16DF18CF-0752-4279-BA46-D152536BCB9D}" type="presParOf" srcId="{0785F58C-B860-48DB-886B-D6D5C35DD874}" destId="{40C2D11B-E0EF-444B-804A-58930595EB57}" srcOrd="0" destOrd="0" presId="urn:microsoft.com/office/officeart/2005/8/layout/chevron2"/>
    <dgm:cxn modelId="{D8BFAF7C-C3F7-43A1-946A-2AF403DFE42A}" type="presParOf" srcId="{0785F58C-B860-48DB-886B-D6D5C35DD874}" destId="{4CBCA3A8-B9C9-4F35-8077-4D4B82F60543}" srcOrd="1" destOrd="0" presId="urn:microsoft.com/office/officeart/2005/8/layout/chevron2"/>
    <dgm:cxn modelId="{81763AA9-2AF1-45BB-AB95-7E18C0515ACF}" type="presParOf" srcId="{3840AD6B-45A3-4D96-9768-76E1B34FB37C}" destId="{DB6DBD9A-0559-4C33-9D80-D45D88208E63}" srcOrd="7" destOrd="0" presId="urn:microsoft.com/office/officeart/2005/8/layout/chevron2"/>
    <dgm:cxn modelId="{94FEC998-95E5-4445-9002-88F55E2C33E3}" type="presParOf" srcId="{3840AD6B-45A3-4D96-9768-76E1B34FB37C}" destId="{F9A1F5E5-6695-486C-BFD8-7F128D95C163}" srcOrd="8" destOrd="0" presId="urn:microsoft.com/office/officeart/2005/8/layout/chevron2"/>
    <dgm:cxn modelId="{A51EA63B-9CA6-41F9-AA14-90CD3A186DC2}" type="presParOf" srcId="{F9A1F5E5-6695-486C-BFD8-7F128D95C163}" destId="{F4B1F6B5-A72D-4230-93A1-BBD82CAA3E85}" srcOrd="0" destOrd="0" presId="urn:microsoft.com/office/officeart/2005/8/layout/chevron2"/>
    <dgm:cxn modelId="{ABCF4C8B-2797-4C9F-9A26-3A663229C87C}" type="presParOf" srcId="{F9A1F5E5-6695-486C-BFD8-7F128D95C163}" destId="{BD95D891-3733-42D7-84D9-C1AC5D7495C1}" srcOrd="1" destOrd="0" presId="urn:microsoft.com/office/officeart/2005/8/layout/chevron2"/>
    <dgm:cxn modelId="{CE810E67-A7C1-42C1-85AE-13A78C0F8AF7}" type="presParOf" srcId="{3840AD6B-45A3-4D96-9768-76E1B34FB37C}" destId="{120E30FA-4C30-4A41-BCC5-FABDCC2839D1}" srcOrd="9" destOrd="0" presId="urn:microsoft.com/office/officeart/2005/8/layout/chevron2"/>
    <dgm:cxn modelId="{9ED4937D-9E1B-43E0-89B8-79DF19127FE6}" type="presParOf" srcId="{3840AD6B-45A3-4D96-9768-76E1B34FB37C}" destId="{FC2BD5BA-619C-497A-AA07-23928B682317}" srcOrd="10" destOrd="0" presId="urn:microsoft.com/office/officeart/2005/8/layout/chevron2"/>
    <dgm:cxn modelId="{1EA1BF41-5AEB-40AA-92BD-E0B9DAC3BE21}" type="presParOf" srcId="{FC2BD5BA-619C-497A-AA07-23928B682317}" destId="{C3AABD2B-1BE9-4776-985B-A2ED9C510F75}" srcOrd="0" destOrd="0" presId="urn:microsoft.com/office/officeart/2005/8/layout/chevron2"/>
    <dgm:cxn modelId="{CA0F14B4-C3C6-4009-9E8F-F619EFABC346}" type="presParOf" srcId="{FC2BD5BA-619C-497A-AA07-23928B682317}" destId="{6DCBE802-F640-4495-A8F0-66A6702EC58D}" srcOrd="1" destOrd="0" presId="urn:microsoft.com/office/officeart/2005/8/layout/chevron2"/>
    <dgm:cxn modelId="{E85BE59F-76BD-4E60-AF1E-67239EB8B722}" type="presParOf" srcId="{3840AD6B-45A3-4D96-9768-76E1B34FB37C}" destId="{C2D39B11-8A5A-4935-8731-3E89ED8D9B5C}" srcOrd="11" destOrd="0" presId="urn:microsoft.com/office/officeart/2005/8/layout/chevron2"/>
    <dgm:cxn modelId="{DA99F343-1A7C-4EB5-B614-DBF14406EB3D}" type="presParOf" srcId="{3840AD6B-45A3-4D96-9768-76E1B34FB37C}" destId="{1F85DB6E-EDD2-4B53-8FA2-CA9F6886772F}" srcOrd="12" destOrd="0" presId="urn:microsoft.com/office/officeart/2005/8/layout/chevron2"/>
    <dgm:cxn modelId="{B5D10A27-2A06-43B0-B791-3AA75D66F342}" type="presParOf" srcId="{1F85DB6E-EDD2-4B53-8FA2-CA9F6886772F}" destId="{876048CC-523E-4F89-A2BF-113B562AE4E9}" srcOrd="0" destOrd="0" presId="urn:microsoft.com/office/officeart/2005/8/layout/chevron2"/>
    <dgm:cxn modelId="{A96B1B1E-C294-48DD-A353-E051678FCB2F}" type="presParOf" srcId="{1F85DB6E-EDD2-4B53-8FA2-CA9F6886772F}" destId="{FC51BA13-AAFB-4A5D-B568-3C670752F9C9}" srcOrd="1" destOrd="0" presId="urn:microsoft.com/office/officeart/2005/8/layout/chevron2"/>
    <dgm:cxn modelId="{A5315780-FDBB-4EB4-9FCE-AAF806779D8F}" type="presParOf" srcId="{3840AD6B-45A3-4D96-9768-76E1B34FB37C}" destId="{C3C26C5E-7029-468D-93B4-5F0A8A234EB4}" srcOrd="13" destOrd="0" presId="urn:microsoft.com/office/officeart/2005/8/layout/chevron2"/>
    <dgm:cxn modelId="{3E66E829-EACE-4626-B1B0-CDE0ADCCDFEC}" type="presParOf" srcId="{3840AD6B-45A3-4D96-9768-76E1B34FB37C}" destId="{E7973AC2-C3DB-484F-B439-A5D5C56586B9}" srcOrd="14" destOrd="0" presId="urn:microsoft.com/office/officeart/2005/8/layout/chevron2"/>
    <dgm:cxn modelId="{2BCF1175-4503-4A74-9876-5596EA039C4A}" type="presParOf" srcId="{E7973AC2-C3DB-484F-B439-A5D5C56586B9}" destId="{12CD051B-E097-4F5B-9EB0-F59561F648F9}" srcOrd="0" destOrd="0" presId="urn:microsoft.com/office/officeart/2005/8/layout/chevron2"/>
    <dgm:cxn modelId="{5C1E0CC0-7A88-4C85-AD54-677590A45EDB}" type="presParOf" srcId="{E7973AC2-C3DB-484F-B439-A5D5C56586B9}" destId="{E5BC6201-707A-412C-B8D4-136161518BC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D40B20-55FF-479F-858C-953299E0C254}">
      <dsp:nvSpPr>
        <dsp:cNvPr id="0" name=""/>
        <dsp:cNvSpPr/>
      </dsp:nvSpPr>
      <dsp:spPr>
        <a:xfrm rot="5400000">
          <a:off x="-116899" y="140220"/>
          <a:ext cx="779332" cy="54553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1</a:t>
          </a:r>
          <a:endParaRPr lang="en-US" sz="1400" b="1" kern="1200" dirty="0"/>
        </a:p>
      </dsp:txBody>
      <dsp:txXfrm rot="-5400000">
        <a:off x="1" y="296086"/>
        <a:ext cx="545532" cy="233800"/>
      </dsp:txXfrm>
    </dsp:sp>
    <dsp:sp modelId="{9653EA0E-9B6F-48E4-91F7-59E4EE55E95C}">
      <dsp:nvSpPr>
        <dsp:cNvPr id="0" name=""/>
        <dsp:cNvSpPr/>
      </dsp:nvSpPr>
      <dsp:spPr>
        <a:xfrm rot="5400000">
          <a:off x="5388159" y="-4836965"/>
          <a:ext cx="506832" cy="1019208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900" b="1" kern="1200" dirty="0"/>
            <a:t>Riot API</a:t>
          </a:r>
          <a:endParaRPr lang="en-US" sz="2900" b="1" kern="1200" dirty="0"/>
        </a:p>
      </dsp:txBody>
      <dsp:txXfrm rot="-5400000">
        <a:off x="545533" y="30402"/>
        <a:ext cx="10167344" cy="457350"/>
      </dsp:txXfrm>
    </dsp:sp>
    <dsp:sp modelId="{ACAE9E4B-721E-4F05-B297-E10E96CAC817}">
      <dsp:nvSpPr>
        <dsp:cNvPr id="0" name=""/>
        <dsp:cNvSpPr/>
      </dsp:nvSpPr>
      <dsp:spPr>
        <a:xfrm rot="5400000">
          <a:off x="-116899" y="829119"/>
          <a:ext cx="779332" cy="54553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2</a:t>
          </a:r>
          <a:endParaRPr lang="en-US" sz="1300" b="1" kern="1200" dirty="0"/>
        </a:p>
      </dsp:txBody>
      <dsp:txXfrm rot="-5400000">
        <a:off x="1" y="984985"/>
        <a:ext cx="545532" cy="233800"/>
      </dsp:txXfrm>
    </dsp:sp>
    <dsp:sp modelId="{09FE9FEF-D054-4C69-B563-215FC4C21EC7}">
      <dsp:nvSpPr>
        <dsp:cNvPr id="0" name=""/>
        <dsp:cNvSpPr/>
      </dsp:nvSpPr>
      <dsp:spPr>
        <a:xfrm rot="5400000">
          <a:off x="5388292" y="-4130539"/>
          <a:ext cx="506566" cy="1019208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900" b="1" kern="1200" dirty="0"/>
            <a:t>Daily Sample Matches </a:t>
          </a:r>
          <a:r>
            <a:rPr lang="en-GB" sz="2900" b="1" kern="1200" dirty="0">
              <a:sym typeface="Wingdings" panose="05000000000000000000" pitchFamily="2" charset="2"/>
            </a:rPr>
            <a:t> matches[]</a:t>
          </a:r>
          <a:endParaRPr lang="en-US" sz="2900" b="1" kern="1200" dirty="0"/>
        </a:p>
      </dsp:txBody>
      <dsp:txXfrm rot="-5400000">
        <a:off x="545533" y="736949"/>
        <a:ext cx="10167356" cy="457108"/>
      </dsp:txXfrm>
    </dsp:sp>
    <dsp:sp modelId="{10CCC1F7-8F27-40A4-83C1-B5E006FCABDF}">
      <dsp:nvSpPr>
        <dsp:cNvPr id="0" name=""/>
        <dsp:cNvSpPr/>
      </dsp:nvSpPr>
      <dsp:spPr>
        <a:xfrm rot="5400000">
          <a:off x="-116899" y="1535678"/>
          <a:ext cx="779332" cy="54553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3</a:t>
          </a:r>
          <a:endParaRPr lang="en-US" sz="1800" b="1" kern="1200" dirty="0"/>
        </a:p>
      </dsp:txBody>
      <dsp:txXfrm rot="-5400000">
        <a:off x="1" y="1691544"/>
        <a:ext cx="545532" cy="233800"/>
      </dsp:txXfrm>
    </dsp:sp>
    <dsp:sp modelId="{D34F9F9C-B951-4C81-A6B7-CDDC20188758}">
      <dsp:nvSpPr>
        <dsp:cNvPr id="0" name=""/>
        <dsp:cNvSpPr/>
      </dsp:nvSpPr>
      <dsp:spPr>
        <a:xfrm rot="5400000">
          <a:off x="5388292" y="-3423981"/>
          <a:ext cx="506566" cy="1019208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900" b="1" kern="1200" dirty="0"/>
            <a:t>Participants </a:t>
          </a:r>
          <a:r>
            <a:rPr lang="en-GB" sz="2900" b="1" kern="1200" dirty="0">
              <a:sym typeface="Wingdings" panose="05000000000000000000" pitchFamily="2" charset="2"/>
            </a:rPr>
            <a:t> 8 players per match</a:t>
          </a:r>
          <a:endParaRPr lang="en-US" sz="2900" b="1" kern="1200" dirty="0"/>
        </a:p>
      </dsp:txBody>
      <dsp:txXfrm rot="-5400000">
        <a:off x="545533" y="1443507"/>
        <a:ext cx="10167356" cy="457108"/>
      </dsp:txXfrm>
    </dsp:sp>
    <dsp:sp modelId="{40C2D11B-E0EF-444B-804A-58930595EB57}">
      <dsp:nvSpPr>
        <dsp:cNvPr id="0" name=""/>
        <dsp:cNvSpPr/>
      </dsp:nvSpPr>
      <dsp:spPr>
        <a:xfrm rot="5400000">
          <a:off x="-116899" y="2242236"/>
          <a:ext cx="779332" cy="54553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4</a:t>
          </a:r>
          <a:endParaRPr lang="en-US" sz="1300" b="1" kern="1200" dirty="0"/>
        </a:p>
      </dsp:txBody>
      <dsp:txXfrm rot="-5400000">
        <a:off x="1" y="2398102"/>
        <a:ext cx="545532" cy="233800"/>
      </dsp:txXfrm>
    </dsp:sp>
    <dsp:sp modelId="{4CBCA3A8-B9C9-4F35-8077-4D4B82F60543}">
      <dsp:nvSpPr>
        <dsp:cNvPr id="0" name=""/>
        <dsp:cNvSpPr/>
      </dsp:nvSpPr>
      <dsp:spPr>
        <a:xfrm rot="5400000">
          <a:off x="5388292" y="-2717422"/>
          <a:ext cx="506566" cy="1019208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900" b="1" kern="1200" dirty="0"/>
            <a:t>Comp Builder </a:t>
          </a:r>
          <a:r>
            <a:rPr lang="en-GB" sz="2900" b="1" kern="1200" dirty="0">
              <a:sym typeface="Wingdings" panose="05000000000000000000" pitchFamily="2" charset="2"/>
            </a:rPr>
            <a:t> traits “/BILGEWATER4:XCOMP”</a:t>
          </a:r>
          <a:endParaRPr lang="en-US" sz="2900" b="1" kern="1200" dirty="0"/>
        </a:p>
      </dsp:txBody>
      <dsp:txXfrm rot="-5400000">
        <a:off x="545533" y="2150066"/>
        <a:ext cx="10167356" cy="457108"/>
      </dsp:txXfrm>
    </dsp:sp>
    <dsp:sp modelId="{F4B1F6B5-A72D-4230-93A1-BBD82CAA3E85}">
      <dsp:nvSpPr>
        <dsp:cNvPr id="0" name=""/>
        <dsp:cNvSpPr/>
      </dsp:nvSpPr>
      <dsp:spPr>
        <a:xfrm rot="5400000">
          <a:off x="-116899" y="2948795"/>
          <a:ext cx="779332" cy="54553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5</a:t>
          </a:r>
          <a:endParaRPr lang="en-US" sz="1800" b="1" kern="1200" dirty="0"/>
        </a:p>
      </dsp:txBody>
      <dsp:txXfrm rot="-5400000">
        <a:off x="1" y="3104661"/>
        <a:ext cx="545532" cy="233800"/>
      </dsp:txXfrm>
    </dsp:sp>
    <dsp:sp modelId="{BD95D891-3733-42D7-84D9-C1AC5D7495C1}">
      <dsp:nvSpPr>
        <dsp:cNvPr id="0" name=""/>
        <dsp:cNvSpPr/>
      </dsp:nvSpPr>
      <dsp:spPr>
        <a:xfrm rot="5400000">
          <a:off x="5388292" y="-2010864"/>
          <a:ext cx="506566" cy="1019208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900" b="1" kern="1200" dirty="0"/>
            <a:t>Stats Engine </a:t>
          </a:r>
          <a:r>
            <a:rPr lang="en-GB" sz="2900" b="1" kern="1200" dirty="0">
              <a:sym typeface="Wingdings" panose="05000000000000000000" pitchFamily="2" charset="2"/>
            </a:rPr>
            <a:t> win_rate / top4_rate / pick_rate</a:t>
          </a:r>
          <a:endParaRPr lang="en-US" sz="2900" b="1" kern="1200" dirty="0"/>
        </a:p>
      </dsp:txBody>
      <dsp:txXfrm rot="-5400000">
        <a:off x="545533" y="2856624"/>
        <a:ext cx="10167356" cy="457108"/>
      </dsp:txXfrm>
    </dsp:sp>
    <dsp:sp modelId="{C3AABD2B-1BE9-4776-985B-A2ED9C510F75}">
      <dsp:nvSpPr>
        <dsp:cNvPr id="0" name=""/>
        <dsp:cNvSpPr/>
      </dsp:nvSpPr>
      <dsp:spPr>
        <a:xfrm rot="5400000">
          <a:off x="-116899" y="3655353"/>
          <a:ext cx="779332" cy="54553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6</a:t>
          </a:r>
          <a:endParaRPr lang="en-US" sz="1300" b="1" kern="1200" dirty="0"/>
        </a:p>
      </dsp:txBody>
      <dsp:txXfrm rot="-5400000">
        <a:off x="1" y="3811219"/>
        <a:ext cx="545532" cy="233800"/>
      </dsp:txXfrm>
    </dsp:sp>
    <dsp:sp modelId="{6DCBE802-F640-4495-A8F0-66A6702EC58D}">
      <dsp:nvSpPr>
        <dsp:cNvPr id="0" name=""/>
        <dsp:cNvSpPr/>
      </dsp:nvSpPr>
      <dsp:spPr>
        <a:xfrm rot="5400000">
          <a:off x="5388292" y="-1304305"/>
          <a:ext cx="506566" cy="1019208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900" b="1" kern="1200" dirty="0"/>
            <a:t>Pricing </a:t>
          </a:r>
          <a:r>
            <a:rPr lang="en-GB" sz="2900" b="1" kern="1200" dirty="0">
              <a:sym typeface="Wingdings" panose="05000000000000000000" pitchFamily="2" charset="2"/>
            </a:rPr>
            <a:t> close = f(W, T4, P)</a:t>
          </a:r>
          <a:endParaRPr lang="en-US" sz="2900" b="1" kern="1200" dirty="0"/>
        </a:p>
      </dsp:txBody>
      <dsp:txXfrm rot="-5400000">
        <a:off x="545533" y="3563183"/>
        <a:ext cx="10167356" cy="457108"/>
      </dsp:txXfrm>
    </dsp:sp>
    <dsp:sp modelId="{876048CC-523E-4F89-A2BF-113B562AE4E9}">
      <dsp:nvSpPr>
        <dsp:cNvPr id="0" name=""/>
        <dsp:cNvSpPr/>
      </dsp:nvSpPr>
      <dsp:spPr>
        <a:xfrm rot="5400000">
          <a:off x="-116899" y="4361912"/>
          <a:ext cx="779332" cy="54553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7</a:t>
          </a:r>
          <a:endParaRPr lang="en-US" sz="1300" b="1" kern="1200" dirty="0"/>
        </a:p>
      </dsp:txBody>
      <dsp:txXfrm rot="-5400000">
        <a:off x="1" y="4517778"/>
        <a:ext cx="545532" cy="233800"/>
      </dsp:txXfrm>
    </dsp:sp>
    <dsp:sp modelId="{FC51BA13-AAFB-4A5D-B568-3C670752F9C9}">
      <dsp:nvSpPr>
        <dsp:cNvPr id="0" name=""/>
        <dsp:cNvSpPr/>
      </dsp:nvSpPr>
      <dsp:spPr>
        <a:xfrm rot="5400000">
          <a:off x="5388292" y="-597746"/>
          <a:ext cx="506566" cy="1019208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900" b="1" kern="1200" dirty="0"/>
            <a:t>Market Store </a:t>
          </a:r>
          <a:r>
            <a:rPr lang="en-GB" sz="2900" b="1" kern="1200" dirty="0">
              <a:sym typeface="Wingdings" panose="05000000000000000000" pitchFamily="2" charset="2"/>
            </a:rPr>
            <a:t> market_history.json (by day)</a:t>
          </a:r>
          <a:endParaRPr lang="en-US" sz="2900" b="1" kern="1200" dirty="0"/>
        </a:p>
      </dsp:txBody>
      <dsp:txXfrm rot="-5400000">
        <a:off x="545533" y="4269742"/>
        <a:ext cx="10167356" cy="457108"/>
      </dsp:txXfrm>
    </dsp:sp>
    <dsp:sp modelId="{12CD051B-E097-4F5B-9EB0-F59561F648F9}">
      <dsp:nvSpPr>
        <dsp:cNvPr id="0" name=""/>
        <dsp:cNvSpPr/>
      </dsp:nvSpPr>
      <dsp:spPr>
        <a:xfrm rot="5400000">
          <a:off x="-116899" y="5068471"/>
          <a:ext cx="779332" cy="54553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8</a:t>
          </a:r>
          <a:endParaRPr lang="en-US" sz="1800" b="1" kern="1200" dirty="0"/>
        </a:p>
      </dsp:txBody>
      <dsp:txXfrm rot="-5400000">
        <a:off x="1" y="5224337"/>
        <a:ext cx="545532" cy="233800"/>
      </dsp:txXfrm>
    </dsp:sp>
    <dsp:sp modelId="{E5BC6201-707A-412C-B8D4-136161518BCE}">
      <dsp:nvSpPr>
        <dsp:cNvPr id="0" name=""/>
        <dsp:cNvSpPr/>
      </dsp:nvSpPr>
      <dsp:spPr>
        <a:xfrm rot="5400000">
          <a:off x="5388292" y="108811"/>
          <a:ext cx="506566" cy="1019208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900" b="1" kern="1200" dirty="0"/>
            <a:t>UI Terminal </a:t>
          </a:r>
          <a:r>
            <a:rPr lang="en-GB" sz="2900" b="1" kern="1200" dirty="0">
              <a:sym typeface="Wingdings" panose="05000000000000000000" pitchFamily="2" charset="2"/>
            </a:rPr>
            <a:t> instruments table + daily chart</a:t>
          </a:r>
          <a:endParaRPr lang="en-US" sz="2900" b="1" kern="1200" dirty="0"/>
        </a:p>
      </dsp:txBody>
      <dsp:txXfrm rot="-5400000">
        <a:off x="545533" y="4976300"/>
        <a:ext cx="10167356" cy="4571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01A67215-D992-45DB-8061-D02649A3724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119F5DD2-CE7D-49A3-8A6C-ACA016973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885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67215-D992-45DB-8061-D02649A3724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5DD2-CE7D-49A3-8A6C-ACA016973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920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1A67215-D992-45DB-8061-D02649A3724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19F5DD2-CE7D-49A3-8A6C-ACA016973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457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67215-D992-45DB-8061-D02649A3724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5DD2-CE7D-49A3-8A6C-ACA016973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080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67215-D992-45DB-8061-D02649A3724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5DD2-CE7D-49A3-8A6C-ACA016973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98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67215-D992-45DB-8061-D02649A3724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5DD2-CE7D-49A3-8A6C-ACA016973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787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67215-D992-45DB-8061-D02649A3724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5DD2-CE7D-49A3-8A6C-ACA016973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441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67215-D992-45DB-8061-D02649A3724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5DD2-CE7D-49A3-8A6C-ACA016973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89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67215-D992-45DB-8061-D02649A3724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5DD2-CE7D-49A3-8A6C-ACA016973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81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67215-D992-45DB-8061-D02649A3724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5DD2-CE7D-49A3-8A6C-ACA016973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791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1A67215-D992-45DB-8061-D02649A3724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19F5DD2-CE7D-49A3-8A6C-ACA016973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8130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1A67215-D992-45DB-8061-D02649A3724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19F5DD2-CE7D-49A3-8A6C-ACA01697346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39336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1A67215-D992-45DB-8061-D02649A3724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19F5DD2-CE7D-49A3-8A6C-ACA016973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1429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67215-D992-45DB-8061-D02649A3724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5DD2-CE7D-49A3-8A6C-ACA016973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319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67215-D992-45DB-8061-D02649A3724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5DD2-CE7D-49A3-8A6C-ACA016973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0845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67215-D992-45DB-8061-D02649A3724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5DD2-CE7D-49A3-8A6C-ACA016973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544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1A67215-D992-45DB-8061-D02649A3724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19F5DD2-CE7D-49A3-8A6C-ACA016973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00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67215-D992-45DB-8061-D02649A3724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9F5DD2-CE7D-49A3-8A6C-ACA016973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6804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  <p:sldLayoutId id="214748379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11BCE-0AEE-CD29-329F-E85D8B2F8E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4225" y="490443"/>
            <a:ext cx="10091737" cy="1825096"/>
          </a:xfrm>
        </p:spPr>
        <p:txBody>
          <a:bodyPr>
            <a:normAutofit/>
          </a:bodyPr>
          <a:lstStyle/>
          <a:p>
            <a:pPr algn="ctr"/>
            <a:r>
              <a:rPr lang="en-GB" sz="4800" b="1" dirty="0"/>
              <a:t>TFT Synthetic market terminal</a:t>
            </a:r>
            <a:endParaRPr lang="en-US" sz="4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981159-1AE3-BF6C-F54F-773B8821DE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5694" y="2726553"/>
            <a:ext cx="9448800" cy="1917221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bg-BG" dirty="0"/>
              <a:t>Прервъща </a:t>
            </a:r>
            <a:r>
              <a:rPr lang="en-GB" dirty="0"/>
              <a:t>TFT</a:t>
            </a:r>
            <a:r>
              <a:rPr lang="bg-BG" dirty="0"/>
              <a:t> статистики в цени на инструменти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bg-BG" dirty="0"/>
              <a:t>Съдържа дневна история на цените </a:t>
            </a:r>
            <a:r>
              <a:rPr lang="en-GB" b="1" dirty="0"/>
              <a:t>(daily close)</a:t>
            </a:r>
            <a:r>
              <a:rPr lang="bg-BG" b="1" dirty="0"/>
              <a:t> </a:t>
            </a:r>
            <a:r>
              <a:rPr lang="en-GB" dirty="0"/>
              <a:t>+ </a:t>
            </a:r>
            <a:r>
              <a:rPr lang="bg-BG" dirty="0"/>
              <a:t>графика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UI </a:t>
            </a:r>
            <a:r>
              <a:rPr lang="bg-BG" dirty="0"/>
              <a:t>интерфейса съдържа</a:t>
            </a:r>
            <a:r>
              <a:rPr lang="en-GB" dirty="0"/>
              <a:t>: Search, Sorting, Hover, Confidence, Watchlist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283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F763E-25C6-3FF1-62A6-23899AAD5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3279" y="715850"/>
            <a:ext cx="9306464" cy="1293028"/>
          </a:xfrm>
        </p:spPr>
        <p:txBody>
          <a:bodyPr/>
          <a:lstStyle/>
          <a:p>
            <a:r>
              <a:rPr lang="en-GB" b="1" dirty="0"/>
              <a:t>Какво е Teamfight Tactics (TFT)?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818D3-3841-5327-8CBD-FACAE6302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257" y="2088970"/>
            <a:ext cx="5543550" cy="4220164"/>
          </a:xfrm>
        </p:spPr>
        <p:txBody>
          <a:bodyPr/>
          <a:lstStyle/>
          <a:p>
            <a:r>
              <a:rPr lang="en-GB" dirty="0"/>
              <a:t>TFT </a:t>
            </a:r>
            <a:r>
              <a:rPr lang="bg-BG" dirty="0"/>
              <a:t>е </a:t>
            </a:r>
            <a:r>
              <a:rPr lang="en-GB" dirty="0"/>
              <a:t>auto-battler </a:t>
            </a:r>
            <a:r>
              <a:rPr lang="bg-BG" dirty="0"/>
              <a:t>игра на </a:t>
            </a:r>
            <a:r>
              <a:rPr lang="en-GB" dirty="0"/>
              <a:t>Riot Games</a:t>
            </a:r>
          </a:p>
          <a:p>
            <a:endParaRPr lang="en-GB" dirty="0"/>
          </a:p>
          <a:p>
            <a:r>
              <a:rPr lang="bg-BG" dirty="0"/>
              <a:t>Играчите изграждат различни комбинации </a:t>
            </a:r>
            <a:r>
              <a:rPr lang="en-GB" dirty="0"/>
              <a:t>(</a:t>
            </a:r>
            <a:r>
              <a:rPr lang="en-GB" b="1" dirty="0"/>
              <a:t>comp</a:t>
            </a:r>
            <a:r>
              <a:rPr lang="bg-BG" dirty="0"/>
              <a:t>-ове</a:t>
            </a:r>
            <a:r>
              <a:rPr lang="en-GB" dirty="0"/>
              <a:t>)</a:t>
            </a:r>
            <a:r>
              <a:rPr lang="bg-BG" dirty="0"/>
              <a:t> от герои, всеки от който има свой </a:t>
            </a:r>
            <a:r>
              <a:rPr lang="en-GB" b="1" dirty="0"/>
              <a:t>trait</a:t>
            </a:r>
          </a:p>
          <a:p>
            <a:endParaRPr lang="en-GB" dirty="0"/>
          </a:p>
          <a:p>
            <a:r>
              <a:rPr lang="bg-BG" dirty="0"/>
              <a:t>Както всяка друга </a:t>
            </a:r>
            <a:r>
              <a:rPr lang="en-GB" dirty="0"/>
              <a:t>multiplayer</a:t>
            </a:r>
            <a:r>
              <a:rPr lang="bg-BG" dirty="0"/>
              <a:t> игра, </a:t>
            </a:r>
            <a:r>
              <a:rPr lang="en-GB" dirty="0"/>
              <a:t>TFT</a:t>
            </a:r>
            <a:r>
              <a:rPr lang="bg-BG" dirty="0"/>
              <a:t> има постоянно променлива </a:t>
            </a:r>
            <a:r>
              <a:rPr lang="en-GB" b="1" dirty="0"/>
              <a:t>meta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C46FED-67A4-BF89-D625-4E76F1693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46" y="1933575"/>
            <a:ext cx="4991797" cy="432824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5994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E8531-DE46-8E46-ECE9-29EEC7530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52230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Концепция: </a:t>
            </a:r>
            <a:br>
              <a:rPr lang="ru-RU" b="1" dirty="0"/>
            </a:br>
            <a:r>
              <a:rPr lang="ru-RU" b="1" dirty="0"/>
              <a:t>TFT meta като финансов пазар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994CB-CAB6-3E28-CBBE-F5CFE4B89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263571"/>
            <a:ext cx="10820400" cy="4024125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Всеки </a:t>
            </a:r>
            <a:r>
              <a:rPr lang="en-GB" b="1" dirty="0"/>
              <a:t>trait</a:t>
            </a:r>
            <a:r>
              <a:rPr lang="en-GB" dirty="0"/>
              <a:t> </a:t>
            </a:r>
            <a:r>
              <a:rPr lang="bg-BG" dirty="0"/>
              <a:t>се представя като финансов инструмент</a:t>
            </a:r>
          </a:p>
          <a:p>
            <a:endParaRPr lang="bg-BG" dirty="0"/>
          </a:p>
          <a:p>
            <a:r>
              <a:rPr lang="bg-BG" dirty="0"/>
              <a:t>Инструментите имат цена, която се обновява дневно</a:t>
            </a:r>
          </a:p>
          <a:p>
            <a:endParaRPr lang="bg-BG" dirty="0"/>
          </a:p>
          <a:p>
            <a:r>
              <a:rPr lang="bg-BG" dirty="0"/>
              <a:t>Примери</a:t>
            </a:r>
            <a:r>
              <a:rPr lang="en-GB" dirty="0"/>
              <a:t>:</a:t>
            </a:r>
          </a:p>
          <a:p>
            <a:pPr marL="0" indent="0">
              <a:buNone/>
            </a:pPr>
            <a:br>
              <a:rPr lang="en-GB" dirty="0"/>
            </a:br>
            <a:r>
              <a:rPr lang="en-GB" dirty="0"/>
              <a:t>	/KUCHE</a:t>
            </a:r>
            <a:r>
              <a:rPr lang="en-US" dirty="0"/>
              <a:t>:XCOMP → </a:t>
            </a:r>
            <a:r>
              <a:rPr lang="en-US" b="1" dirty="0"/>
              <a:t>Continuous Future</a:t>
            </a:r>
            <a:r>
              <a:rPr lang="en-US" dirty="0"/>
              <a:t> (trait </a:t>
            </a:r>
            <a:r>
              <a:rPr lang="az-Cyrl-AZ" dirty="0"/>
              <a:t>като агрегирана цена)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	/KUCHE4:XCOMP </a:t>
            </a:r>
            <a:r>
              <a:rPr lang="en-US" dirty="0"/>
              <a:t>→ </a:t>
            </a:r>
            <a:r>
              <a:rPr lang="en-US" b="1" dirty="0"/>
              <a:t>Individual Contract</a:t>
            </a:r>
            <a:r>
              <a:rPr lang="en-US" dirty="0"/>
              <a:t> (</a:t>
            </a:r>
            <a:r>
              <a:rPr lang="bg-BG" dirty="0"/>
              <a:t>конкретна вариация</a:t>
            </a:r>
            <a:r>
              <a:rPr lang="en-GB" dirty="0"/>
              <a:t>)</a:t>
            </a:r>
          </a:p>
          <a:p>
            <a:pPr marL="0" indent="0">
              <a:buNone/>
            </a:pPr>
            <a:endParaRPr lang="en-GB" dirty="0"/>
          </a:p>
          <a:p>
            <a:r>
              <a:rPr lang="bg-BG" dirty="0"/>
              <a:t>Целта  е визуално да се вижда кои инструменти поскъпват и кои падат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560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F5B3F-E0B3-B28E-E87D-E55B3B1F7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864" y="578930"/>
            <a:ext cx="7762336" cy="1418086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Riot API: </a:t>
            </a:r>
            <a:br>
              <a:rPr lang="en-GB" b="1" dirty="0"/>
            </a:br>
            <a:r>
              <a:rPr lang="ru-RU" b="1" dirty="0"/>
              <a:t>какво получаваме </a:t>
            </a:r>
            <a:br>
              <a:rPr lang="en-GB" b="1" dirty="0"/>
            </a:br>
            <a:r>
              <a:rPr lang="ru-RU" b="1" dirty="0"/>
              <a:t>какво трябва да изчислим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003B6-539C-419D-6FCE-0CAC56294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254945"/>
            <a:ext cx="10820400" cy="402412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Riot API </a:t>
            </a:r>
            <a:r>
              <a:rPr lang="az-Cyrl-AZ" dirty="0"/>
              <a:t>предоставя:</a:t>
            </a:r>
            <a:endParaRPr lang="en-GB" dirty="0"/>
          </a:p>
          <a:p>
            <a:endParaRPr lang="en-GB" dirty="0"/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bg-BG" dirty="0"/>
              <a:t>Подробен агрегиран </a:t>
            </a:r>
            <a:r>
              <a:rPr lang="en-GB" dirty="0"/>
              <a:t>JSON </a:t>
            </a:r>
            <a:r>
              <a:rPr lang="bg-BG" dirty="0"/>
              <a:t>за всеки </a:t>
            </a:r>
            <a:r>
              <a:rPr lang="en-GB" b="1" dirty="0"/>
              <a:t>match</a:t>
            </a:r>
            <a:r>
              <a:rPr lang="en-GB" dirty="0"/>
              <a:t> (placement, traits, participants, etc.)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ü"/>
            </a:pPr>
            <a:endParaRPr lang="en-GB" dirty="0"/>
          </a:p>
          <a:p>
            <a:pPr marL="0" indent="0">
              <a:buClr>
                <a:srgbClr val="00B050"/>
              </a:buClr>
              <a:buNone/>
            </a:pPr>
            <a:r>
              <a:rPr lang="en-GB" dirty="0"/>
              <a:t>Riot  API </a:t>
            </a:r>
            <a:r>
              <a:rPr lang="bg-BG" dirty="0"/>
              <a:t>не предоставя директно</a:t>
            </a:r>
            <a:r>
              <a:rPr lang="en-GB" dirty="0"/>
              <a:t>:</a:t>
            </a:r>
            <a:br>
              <a:rPr lang="en-GB" dirty="0"/>
            </a:br>
            <a:endParaRPr lang="en-GB" dirty="0"/>
          </a:p>
          <a:p>
            <a:pPr>
              <a:buClr>
                <a:srgbClr val="FF0000"/>
              </a:buClr>
              <a:buFont typeface="Century Gothic" panose="020B0502020202020204" pitchFamily="34" charset="0"/>
              <a:buChar char="X"/>
            </a:pPr>
            <a:r>
              <a:rPr lang="bg-BG" dirty="0"/>
              <a:t>Глобални дневни статистики по </a:t>
            </a:r>
            <a:r>
              <a:rPr lang="en-GB" b="1" dirty="0"/>
              <a:t>comp</a:t>
            </a:r>
            <a:r>
              <a:rPr lang="en-GB" dirty="0"/>
              <a:t>-</a:t>
            </a:r>
            <a:r>
              <a:rPr lang="bg-BG" dirty="0"/>
              <a:t>ове</a:t>
            </a:r>
          </a:p>
          <a:p>
            <a:pPr>
              <a:buClr>
                <a:srgbClr val="FF0000"/>
              </a:buClr>
              <a:buFont typeface="Century Gothic" panose="020B0502020202020204" pitchFamily="34" charset="0"/>
              <a:buChar char="X"/>
            </a:pPr>
            <a:r>
              <a:rPr lang="en-GB" dirty="0"/>
              <a:t>Live (tick) data, </a:t>
            </a:r>
            <a:r>
              <a:rPr lang="bg-BG" dirty="0"/>
              <a:t>поради лимитации</a:t>
            </a:r>
            <a:r>
              <a:rPr lang="en-GB" dirty="0"/>
              <a:t> </a:t>
            </a:r>
            <a:r>
              <a:rPr lang="bg-BG" dirty="0"/>
              <a:t>на </a:t>
            </a:r>
            <a:r>
              <a:rPr lang="en-GB" b="1" dirty="0"/>
              <a:t>call</a:t>
            </a:r>
            <a:r>
              <a:rPr lang="en-GB" dirty="0"/>
              <a:t>-</a:t>
            </a:r>
            <a:r>
              <a:rPr lang="bg-BG" dirty="0"/>
              <a:t>овете на безплатното </a:t>
            </a:r>
            <a:r>
              <a:rPr lang="en-GB" dirty="0"/>
              <a:t>API</a:t>
            </a:r>
          </a:p>
          <a:p>
            <a:pPr>
              <a:buClr>
                <a:srgbClr val="FF0000"/>
              </a:buClr>
              <a:buFont typeface="Century Gothic" panose="020B0502020202020204" pitchFamily="34" charset="0"/>
              <a:buChar char="X"/>
            </a:pPr>
            <a:endParaRPr lang="en-GB" dirty="0"/>
          </a:p>
          <a:p>
            <a:pPr marL="0" indent="0">
              <a:buClr>
                <a:srgbClr val="FF0000"/>
              </a:buClr>
              <a:buNone/>
            </a:pPr>
            <a:r>
              <a:rPr lang="bg-BG" dirty="0"/>
              <a:t>Решение</a:t>
            </a:r>
            <a:r>
              <a:rPr lang="en-GB" dirty="0"/>
              <a:t>:</a:t>
            </a:r>
          </a:p>
          <a:p>
            <a:pPr marL="0" indent="0">
              <a:buClr>
                <a:srgbClr val="FF0000"/>
              </a:buClr>
              <a:buNone/>
            </a:pPr>
            <a:endParaRPr lang="en-GB" dirty="0"/>
          </a:p>
          <a:p>
            <a:pPr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q"/>
            </a:pPr>
            <a:r>
              <a:rPr lang="bg-BG" dirty="0"/>
              <a:t> Ежеднвено </a:t>
            </a:r>
            <a:r>
              <a:rPr lang="en-GB" b="1" dirty="0"/>
              <a:t>sample</a:t>
            </a:r>
            <a:r>
              <a:rPr lang="en-GB" dirty="0"/>
              <a:t>-</a:t>
            </a:r>
            <a:r>
              <a:rPr lang="bg-BG" dirty="0"/>
              <a:t>ване на топ играчи </a:t>
            </a:r>
            <a:r>
              <a:rPr lang="en-GB" dirty="0"/>
              <a:t>(</a:t>
            </a:r>
            <a:r>
              <a:rPr lang="bg-BG" dirty="0"/>
              <a:t>по най-висок ранк</a:t>
            </a:r>
            <a:r>
              <a:rPr lang="en-GB" dirty="0"/>
              <a:t>) + </a:t>
            </a:r>
            <a:r>
              <a:rPr lang="en-GB" b="1" dirty="0"/>
              <a:t>engine </a:t>
            </a:r>
            <a:r>
              <a:rPr lang="bg-BG" dirty="0"/>
              <a:t>за анализ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6851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4F31C-D254-09F0-EFFD-0EE21AA32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166" y="715951"/>
            <a:ext cx="10402019" cy="1293028"/>
          </a:xfrm>
        </p:spPr>
        <p:txBody>
          <a:bodyPr/>
          <a:lstStyle/>
          <a:p>
            <a:r>
              <a:rPr lang="en-US" b="1" dirty="0"/>
              <a:t>end-to-end</a:t>
            </a:r>
            <a:r>
              <a:rPr lang="bg-BG" b="1" dirty="0"/>
              <a:t> </a:t>
            </a:r>
            <a:r>
              <a:rPr lang="az-Cyrl-AZ" b="1" dirty="0"/>
              <a:t>Архитектура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088FE-A2C3-2742-FF9C-F4ACAF56D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759" y="2226728"/>
            <a:ext cx="8001001" cy="3915321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bg-BG" dirty="0"/>
              <a:t>Взимат се </a:t>
            </a:r>
            <a:r>
              <a:rPr lang="en-GB" b="1" dirty="0"/>
              <a:t>PUUID</a:t>
            </a:r>
            <a:r>
              <a:rPr lang="en-GB" dirty="0"/>
              <a:t>-</a:t>
            </a:r>
            <a:r>
              <a:rPr lang="bg-BG" dirty="0"/>
              <a:t>та на най-добрите </a:t>
            </a:r>
            <a:r>
              <a:rPr lang="en-GB" dirty="0"/>
              <a:t>(Challenger) </a:t>
            </a:r>
            <a:r>
              <a:rPr lang="bg-BG" dirty="0"/>
              <a:t>играчи чрез</a:t>
            </a:r>
            <a:r>
              <a:rPr lang="en-GB" dirty="0"/>
              <a:t> Riot API</a:t>
            </a:r>
          </a:p>
          <a:p>
            <a:pPr marL="457200" indent="-457200">
              <a:buAutoNum type="arabicPeriod"/>
            </a:pPr>
            <a:r>
              <a:rPr lang="bg-BG" dirty="0"/>
              <a:t>Свялат се последните </a:t>
            </a:r>
            <a:r>
              <a:rPr lang="en-GB" b="1" dirty="0"/>
              <a:t>N</a:t>
            </a:r>
            <a:r>
              <a:rPr lang="en-GB" dirty="0"/>
              <a:t> </a:t>
            </a:r>
            <a:r>
              <a:rPr lang="bg-BG" dirty="0"/>
              <a:t>на брой мачове за всеки един от играчите</a:t>
            </a:r>
          </a:p>
          <a:p>
            <a:pPr marL="457200" indent="-457200">
              <a:buAutoNum type="arabicPeriod"/>
            </a:pPr>
            <a:r>
              <a:rPr lang="bg-BG" dirty="0"/>
              <a:t>Агрегират се статистики за </a:t>
            </a:r>
            <a:r>
              <a:rPr lang="en-GB" b="1" dirty="0"/>
              <a:t>comp</a:t>
            </a:r>
            <a:r>
              <a:rPr lang="en-GB" dirty="0"/>
              <a:t>-</a:t>
            </a:r>
            <a:r>
              <a:rPr lang="bg-BG" dirty="0"/>
              <a:t>ове и техните вариации</a:t>
            </a:r>
          </a:p>
          <a:p>
            <a:pPr marL="457200" indent="-457200">
              <a:buAutoNum type="arabicPeriod"/>
            </a:pPr>
            <a:r>
              <a:rPr lang="bg-BG" dirty="0"/>
              <a:t>Изчислява се синтетичен </a:t>
            </a:r>
            <a:r>
              <a:rPr lang="en-GB" b="1" dirty="0"/>
              <a:t>close price</a:t>
            </a:r>
          </a:p>
          <a:p>
            <a:pPr marL="457200" indent="-457200">
              <a:buAutoNum type="arabicPeriod"/>
            </a:pPr>
            <a:r>
              <a:rPr lang="bg-BG" dirty="0"/>
              <a:t>Резултатите се записват в </a:t>
            </a:r>
            <a:r>
              <a:rPr lang="en-GB" b="1" dirty="0"/>
              <a:t>market_history.json</a:t>
            </a:r>
            <a:endParaRPr lang="bg-BG" b="1" dirty="0"/>
          </a:p>
          <a:p>
            <a:pPr marL="457200" indent="-457200">
              <a:buAutoNum type="arabicPeriod"/>
            </a:pPr>
            <a:r>
              <a:rPr lang="en-GB" dirty="0"/>
              <a:t>UI</a:t>
            </a:r>
            <a:r>
              <a:rPr lang="bg-BG" dirty="0"/>
              <a:t> зарежда историята и визуализира цените като графика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EC7C12-2059-7E6B-ED7D-DC8319D20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5182" y="2141003"/>
            <a:ext cx="1810003" cy="37835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40466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5B05F4EB-6A5A-BFD8-18FF-A6283EE9A5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4504313"/>
              </p:ext>
            </p:extLst>
          </p:nvPr>
        </p:nvGraphicFramePr>
        <p:xfrm>
          <a:off x="615822" y="681488"/>
          <a:ext cx="10737618" cy="57365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3118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C94FF-3E47-8BC3-135B-EDAFB90EB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1083550"/>
            <a:ext cx="8610600" cy="1293028"/>
          </a:xfrm>
        </p:spPr>
        <p:txBody>
          <a:bodyPr/>
          <a:lstStyle/>
          <a:p>
            <a:r>
              <a:rPr lang="bg-BG" b="1" dirty="0"/>
              <a:t>ПРЕДИЗВИКАтелСТВА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61C94-746D-F0AE-75E6-286DDC6A2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766492"/>
            <a:ext cx="10820400" cy="3429862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1. Riot API </a:t>
            </a:r>
            <a:r>
              <a:rPr lang="bg-BG" dirty="0"/>
              <a:t>не предоставя готови статистики които са необходими за изчислението на цената като</a:t>
            </a:r>
            <a:r>
              <a:rPr lang="en-GB" dirty="0"/>
              <a:t>:</a:t>
            </a:r>
            <a:r>
              <a:rPr lang="bg-BG" dirty="0"/>
              <a:t> </a:t>
            </a:r>
            <a:r>
              <a:rPr lang="en-GB" b="1" dirty="0"/>
              <a:t>winrate, top 4 rate, pick rate</a:t>
            </a:r>
            <a:br>
              <a:rPr lang="bg-BG" b="1" dirty="0"/>
            </a:br>
            <a:br>
              <a:rPr lang="bg-BG" b="1" dirty="0"/>
            </a:br>
            <a:r>
              <a:rPr lang="en-GB" b="1" dirty="0"/>
              <a:t>	Sample-</a:t>
            </a:r>
            <a:r>
              <a:rPr lang="bg-BG" b="1" dirty="0"/>
              <a:t>ване</a:t>
            </a:r>
            <a:r>
              <a:rPr lang="bg-BG" dirty="0"/>
              <a:t> само на</a:t>
            </a:r>
            <a:r>
              <a:rPr lang="en-GB" dirty="0"/>
              <a:t> </a:t>
            </a:r>
            <a:r>
              <a:rPr lang="en-GB" b="1" dirty="0"/>
              <a:t>Challenger ladder</a:t>
            </a:r>
            <a:r>
              <a:rPr lang="en-GB" dirty="0"/>
              <a:t> + </a:t>
            </a:r>
            <a:r>
              <a:rPr lang="bg-BG" dirty="0"/>
              <a:t>собствен </a:t>
            </a:r>
            <a:r>
              <a:rPr lang="en-GB" b="1" dirty="0"/>
              <a:t>stats engine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dirty="0"/>
              <a:t>2. Noise &amp;</a:t>
            </a:r>
            <a:r>
              <a:rPr lang="bg-BG" dirty="0"/>
              <a:t> </a:t>
            </a:r>
            <a:r>
              <a:rPr lang="en-GB" dirty="0"/>
              <a:t>Filler </a:t>
            </a:r>
            <a:r>
              <a:rPr lang="bg-BG" dirty="0"/>
              <a:t>данни</a:t>
            </a:r>
            <a:endParaRPr lang="en-GB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	MIN_GAMES </a:t>
            </a:r>
            <a:r>
              <a:rPr lang="bg-BG" dirty="0"/>
              <a:t>филтър </a:t>
            </a:r>
            <a:r>
              <a:rPr lang="en-GB" dirty="0"/>
              <a:t>+ </a:t>
            </a:r>
            <a:r>
              <a:rPr lang="en-GB" b="1" dirty="0"/>
              <a:t>Confidenc</a:t>
            </a:r>
            <a:r>
              <a:rPr lang="bg-BG" b="1" dirty="0"/>
              <a:t>е</a:t>
            </a:r>
            <a:endParaRPr lang="en-GB" b="1" dirty="0"/>
          </a:p>
          <a:p>
            <a:pPr marL="457200" indent="-457200">
              <a:buAutoNum type="arabicPeriod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943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CF908-6AC5-C4DF-3812-3A7D1B03B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COMP BUILDER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DC409-4DA4-A142-1771-21F5CA22A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910" y="2074654"/>
            <a:ext cx="10820400" cy="4166557"/>
          </a:xfrm>
        </p:spPr>
        <p:txBody>
          <a:bodyPr>
            <a:normAutofit fontScale="92500" lnSpcReduction="20000"/>
          </a:bodyPr>
          <a:lstStyle/>
          <a:p>
            <a:r>
              <a:rPr lang="en-GB" sz="2000" b="1" dirty="0"/>
              <a:t>comp_builder.py </a:t>
            </a:r>
            <a:r>
              <a:rPr lang="bg-BG" sz="2000" dirty="0"/>
              <a:t>взима сурови данни за </a:t>
            </a:r>
            <a:r>
              <a:rPr lang="en-GB" sz="2000" b="1" dirty="0"/>
              <a:t>trait-</a:t>
            </a:r>
            <a:r>
              <a:rPr lang="bg-BG" sz="2000" dirty="0"/>
              <a:t>овете</a:t>
            </a:r>
            <a:r>
              <a:rPr lang="en-GB" sz="2000" dirty="0"/>
              <a:t> </a:t>
            </a:r>
            <a:r>
              <a:rPr lang="en-GB" sz="2000" b="1" dirty="0"/>
              <a:t>(</a:t>
            </a:r>
            <a:r>
              <a:rPr lang="en-US" sz="2000" b="1" dirty="0"/>
              <a:t>participant["traits"])</a:t>
            </a:r>
          </a:p>
          <a:p>
            <a:pPr marL="0" indent="0">
              <a:buNone/>
            </a:pPr>
            <a:endParaRPr lang="en-GB" sz="2000" b="1" dirty="0"/>
          </a:p>
          <a:p>
            <a:r>
              <a:rPr lang="bg-BG" sz="2000" dirty="0"/>
              <a:t>Филтрира само активните </a:t>
            </a:r>
            <a:r>
              <a:rPr lang="en-GB" sz="2000" b="1" dirty="0"/>
              <a:t>trait-</a:t>
            </a:r>
            <a:r>
              <a:rPr lang="bg-BG" sz="2000" dirty="0"/>
              <a:t>ове </a:t>
            </a:r>
            <a:r>
              <a:rPr lang="en-GB" sz="2000" b="1" dirty="0"/>
              <a:t>(num_units &gt; 0)</a:t>
            </a:r>
            <a:r>
              <a:rPr lang="bg-BG" sz="2000" b="1" dirty="0"/>
              <a:t> </a:t>
            </a:r>
            <a:endParaRPr lang="en-GB" sz="2000" b="1" dirty="0"/>
          </a:p>
          <a:p>
            <a:endParaRPr lang="en-GB" sz="2000" b="1" dirty="0"/>
          </a:p>
          <a:p>
            <a:r>
              <a:rPr lang="ru-RU" sz="2000" dirty="0"/>
              <a:t>Нормализира имената (премахва </a:t>
            </a:r>
            <a:r>
              <a:rPr lang="ru-RU" b="1" dirty="0"/>
              <a:t>TFT...</a:t>
            </a:r>
            <a:r>
              <a:rPr lang="ru-RU" sz="2000" b="1" dirty="0"/>
              <a:t> </a:t>
            </a:r>
            <a:r>
              <a:rPr lang="ru-RU" sz="2000" dirty="0"/>
              <a:t>и ги прави </a:t>
            </a:r>
            <a:r>
              <a:rPr lang="ru-RU" b="1" dirty="0"/>
              <a:t>UPPERCASE</a:t>
            </a:r>
            <a:r>
              <a:rPr lang="ru-RU" sz="2000" b="1" dirty="0"/>
              <a:t>)</a:t>
            </a:r>
          </a:p>
          <a:p>
            <a:endParaRPr lang="ru-RU" sz="2000" b="1" dirty="0"/>
          </a:p>
          <a:p>
            <a:r>
              <a:rPr lang="ru-RU" sz="2000" dirty="0"/>
              <a:t>Избира </a:t>
            </a:r>
            <a:r>
              <a:rPr lang="en-GB" sz="2000" b="1" dirty="0"/>
              <a:t>T</a:t>
            </a:r>
            <a:r>
              <a:rPr lang="ru-RU" sz="2000" b="1" dirty="0"/>
              <a:t>op N </a:t>
            </a:r>
            <a:r>
              <a:rPr lang="en-GB" sz="2000" b="1" dirty="0"/>
              <a:t>T</a:t>
            </a:r>
            <a:r>
              <a:rPr lang="ru-RU" sz="2000" b="1" dirty="0"/>
              <a:t>raits</a:t>
            </a:r>
          </a:p>
          <a:p>
            <a:endParaRPr lang="ru-RU" sz="2000" b="1" dirty="0"/>
          </a:p>
          <a:p>
            <a:r>
              <a:rPr lang="ru-RU" sz="2000" dirty="0"/>
              <a:t>Генерира стандартизиран интрумент във формат</a:t>
            </a:r>
            <a:r>
              <a:rPr lang="en-GB" sz="2000" dirty="0"/>
              <a:t>:</a:t>
            </a:r>
            <a:br>
              <a:rPr lang="en-GB" sz="2000" dirty="0"/>
            </a:br>
            <a:br>
              <a:rPr lang="en-GB" sz="2000" dirty="0"/>
            </a:br>
            <a:r>
              <a:rPr lang="en-GB" sz="2000" dirty="0"/>
              <a:t>	</a:t>
            </a:r>
            <a:r>
              <a:rPr lang="en-GB" sz="2000" b="1" dirty="0"/>
              <a:t>/TRAIT{units}:XCOMP</a:t>
            </a:r>
          </a:p>
          <a:p>
            <a:endParaRPr lang="en-GB" sz="2000" b="1" dirty="0"/>
          </a:p>
          <a:p>
            <a:pPr marL="0" indent="0">
              <a:buNone/>
            </a:pPr>
            <a:r>
              <a:rPr lang="en-GB" sz="2000" b="1" dirty="0"/>
              <a:t>	</a:t>
            </a:r>
            <a:r>
              <a:rPr lang="bg-BG" sz="2000" dirty="0"/>
              <a:t>Пример</a:t>
            </a:r>
            <a:r>
              <a:rPr lang="en-GB" sz="2000" dirty="0"/>
              <a:t>:</a:t>
            </a:r>
            <a:r>
              <a:rPr lang="en-GB" sz="2000" b="1" dirty="0"/>
              <a:t> /BILGEWATER4:XCOMP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105997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D0D57-A76A-7289-E013-E9444217C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116DD-F09A-D127-F455-459B801F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COMP BUILDER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B65F11-A4C0-5A04-4095-93C741FAA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1666" y="2057401"/>
            <a:ext cx="7987153" cy="40598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15974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A526E-E230-67E7-B4B2-7A1470D0F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STATS ENGINE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85FFF-B1DE-CA39-53CA-785F066B4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/>
              <a:t>Тъй като </a:t>
            </a:r>
            <a:r>
              <a:rPr lang="en-GB" dirty="0"/>
              <a:t>Riot API-</a:t>
            </a:r>
            <a:r>
              <a:rPr lang="bg-BG" dirty="0"/>
              <a:t>то не предоставя готови статистики, спрямо които се определя цената</a:t>
            </a:r>
            <a:r>
              <a:rPr lang="en-GB" dirty="0"/>
              <a:t>, </a:t>
            </a:r>
            <a:r>
              <a:rPr lang="en-GB" b="1" dirty="0"/>
              <a:t>engine</a:t>
            </a:r>
            <a:r>
              <a:rPr lang="en-GB" dirty="0"/>
              <a:t>-a</a:t>
            </a:r>
            <a:r>
              <a:rPr lang="en-GB" b="1" dirty="0"/>
              <a:t> </a:t>
            </a:r>
            <a:r>
              <a:rPr lang="bg-BG" dirty="0"/>
              <a:t>служи за събиране на дневните метрики</a:t>
            </a:r>
          </a:p>
          <a:p>
            <a:pPr marL="0" indent="0">
              <a:buNone/>
            </a:pPr>
            <a:endParaRPr lang="bg-BG" dirty="0"/>
          </a:p>
          <a:p>
            <a:r>
              <a:rPr lang="bg-BG" dirty="0"/>
              <a:t>Събира се списъка от </a:t>
            </a:r>
            <a:r>
              <a:rPr lang="en-GB" b="1" dirty="0"/>
              <a:t>match</a:t>
            </a:r>
            <a:r>
              <a:rPr lang="en-GB" dirty="0"/>
              <a:t>-</a:t>
            </a:r>
            <a:r>
              <a:rPr lang="bg-BG" dirty="0"/>
              <a:t>ове за деня и се обработват всички </a:t>
            </a:r>
            <a:r>
              <a:rPr lang="en-GB" b="1" dirty="0"/>
              <a:t>comp</a:t>
            </a:r>
            <a:r>
              <a:rPr lang="en-GB" dirty="0"/>
              <a:t>-</a:t>
            </a:r>
            <a:r>
              <a:rPr lang="bg-BG" dirty="0"/>
              <a:t>ове за всеки един събран </a:t>
            </a:r>
            <a:r>
              <a:rPr lang="en-GB" b="1" dirty="0"/>
              <a:t>match</a:t>
            </a:r>
          </a:p>
          <a:p>
            <a:endParaRPr lang="en-GB" dirty="0"/>
          </a:p>
          <a:p>
            <a:r>
              <a:rPr lang="bg-BG" dirty="0"/>
              <a:t>За всеки </a:t>
            </a:r>
            <a:r>
              <a:rPr lang="en-GB" b="1" dirty="0"/>
              <a:t>comp:</a:t>
            </a:r>
            <a:br>
              <a:rPr lang="en-GB" b="1" dirty="0"/>
            </a:br>
            <a:r>
              <a:rPr lang="en-GB" b="1" dirty="0"/>
              <a:t>-</a:t>
            </a:r>
            <a:r>
              <a:rPr lang="en-GB" dirty="0"/>
              <a:t> </a:t>
            </a:r>
            <a:r>
              <a:rPr lang="bg-BG" dirty="0"/>
              <a:t>се извиква неговия инструмент чрез </a:t>
            </a:r>
            <a:r>
              <a:rPr lang="en-GB" b="1" dirty="0"/>
              <a:t>comp_symbol_from_participant(…)</a:t>
            </a:r>
            <a:br>
              <a:rPr lang="bg-BG" b="1" dirty="0"/>
            </a:br>
            <a:r>
              <a:rPr lang="bg-BG" b="1" dirty="0"/>
              <a:t>- </a:t>
            </a:r>
            <a:r>
              <a:rPr lang="bg-BG" dirty="0"/>
              <a:t>се натрупват данни за </a:t>
            </a:r>
            <a:r>
              <a:rPr lang="en-GB" b="1" dirty="0"/>
              <a:t>games, wins, top4</a:t>
            </a:r>
            <a:br>
              <a:rPr lang="en-GB" b="1" dirty="0"/>
            </a:br>
            <a:r>
              <a:rPr lang="bg-BG" b="1" dirty="0"/>
              <a:t>- </a:t>
            </a:r>
            <a:r>
              <a:rPr lang="bg-BG" dirty="0"/>
              <a:t>се изчисляват процентни метрики </a:t>
            </a:r>
            <a:r>
              <a:rPr lang="en-GB" b="1" dirty="0"/>
              <a:t>(win_rate = wins / games, top4_rate = top4 / games)</a:t>
            </a:r>
            <a:endParaRPr lang="bg-BG" b="1" dirty="0"/>
          </a:p>
          <a:p>
            <a:endParaRPr lang="bg-BG" b="1" dirty="0"/>
          </a:p>
          <a:p>
            <a:endParaRPr lang="bg-BG" b="1" dirty="0"/>
          </a:p>
        </p:txBody>
      </p:sp>
    </p:spTree>
    <p:extLst>
      <p:ext uri="{BB962C8B-B14F-4D97-AF65-F5344CB8AC3E}">
        <p14:creationId xmlns:p14="http://schemas.microsoft.com/office/powerpoint/2010/main" val="1445391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07061-B70B-3EE2-05FA-685F4D1E3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623AF-9FB1-49D7-C1BB-E38E29EA1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476" y="373338"/>
            <a:ext cx="8610600" cy="1293028"/>
          </a:xfrm>
        </p:spPr>
        <p:txBody>
          <a:bodyPr/>
          <a:lstStyle/>
          <a:p>
            <a:r>
              <a:rPr lang="en-GB" b="1" dirty="0"/>
              <a:t>STATS ENGINE</a:t>
            </a:r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0D014F-4983-F4C4-AE97-346704144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646" y="1666366"/>
            <a:ext cx="5944430" cy="46774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15912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B2B21-A0E7-C98B-0EFD-76D09C8D7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Continuous Future: </a:t>
            </a:r>
            <a:r>
              <a:rPr lang="az-Cyrl-AZ" b="1" dirty="0"/>
              <a:t>агрегирана цена на </a:t>
            </a:r>
            <a:r>
              <a:rPr lang="en-US" b="1" dirty="0"/>
              <a:t>trait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5A671-2D77-5897-559F-5AD7B3F2F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460541"/>
            <a:ext cx="10820400" cy="4024125"/>
          </a:xfrm>
        </p:spPr>
        <p:txBody>
          <a:bodyPr/>
          <a:lstStyle/>
          <a:p>
            <a:r>
              <a:rPr lang="en-GB" b="1" dirty="0"/>
              <a:t>Individual Contract: </a:t>
            </a:r>
            <a:r>
              <a:rPr lang="en-GB" dirty="0"/>
              <a:t>/KUCHE3:XCOMP, /KUCHE8:XCOMP, …</a:t>
            </a:r>
          </a:p>
          <a:p>
            <a:endParaRPr lang="en-GB" dirty="0"/>
          </a:p>
          <a:p>
            <a:r>
              <a:rPr lang="en-GB" b="1" dirty="0"/>
              <a:t>Continuous Contract: </a:t>
            </a:r>
            <a:r>
              <a:rPr lang="en-GB" dirty="0"/>
              <a:t>/KUCHE:XCOMP</a:t>
            </a:r>
          </a:p>
          <a:p>
            <a:endParaRPr lang="en-GB" dirty="0"/>
          </a:p>
          <a:p>
            <a:r>
              <a:rPr lang="bg-BG" dirty="0"/>
              <a:t>Цената на </a:t>
            </a:r>
            <a:r>
              <a:rPr lang="en-GB" b="1" dirty="0"/>
              <a:t>Continuous Contract </a:t>
            </a:r>
            <a:r>
              <a:rPr lang="bg-BG" dirty="0"/>
              <a:t>се изчислява като агрегирана стойност от всички играни вариации на един </a:t>
            </a:r>
            <a:r>
              <a:rPr lang="en-GB" b="1" dirty="0"/>
              <a:t>trait</a:t>
            </a:r>
          </a:p>
          <a:p>
            <a:endParaRPr lang="en-GB" b="1" dirty="0"/>
          </a:p>
          <a:p>
            <a:r>
              <a:rPr lang="ru-RU" dirty="0"/>
              <a:t>Това намалява </a:t>
            </a:r>
            <a:r>
              <a:rPr lang="en-GB" b="1" dirty="0"/>
              <a:t>noise</a:t>
            </a:r>
            <a:r>
              <a:rPr lang="en-GB" dirty="0"/>
              <a:t>-a</a:t>
            </a:r>
            <a:r>
              <a:rPr lang="ru-RU" dirty="0"/>
              <a:t> и показва общото поведение на </a:t>
            </a:r>
            <a:r>
              <a:rPr lang="ru-RU" b="1" dirty="0"/>
              <a:t>trait</a:t>
            </a:r>
            <a:r>
              <a:rPr lang="ru-RU" dirty="0"/>
              <a:t>-а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62201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086E3-1045-974E-A986-7D88F077E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B896A-AA03-E8F4-EEE1-B1BABF351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Continuous Future: </a:t>
            </a:r>
            <a:r>
              <a:rPr lang="az-Cyrl-AZ" b="1" dirty="0"/>
              <a:t>агрегирана цена на </a:t>
            </a:r>
            <a:r>
              <a:rPr lang="en-US" b="1" dirty="0"/>
              <a:t>trait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868E8-291A-92DC-8433-AF0B5E251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441491"/>
            <a:ext cx="9372600" cy="4024125"/>
          </a:xfrm>
        </p:spPr>
        <p:txBody>
          <a:bodyPr/>
          <a:lstStyle/>
          <a:p>
            <a:pPr marL="0" indent="0">
              <a:buNone/>
            </a:pPr>
            <a:r>
              <a:rPr lang="bg-BG" dirty="0"/>
              <a:t>За целта се използва </a:t>
            </a:r>
            <a:r>
              <a:rPr lang="en-GB" b="1" dirty="0"/>
              <a:t>weighted average</a:t>
            </a:r>
            <a:r>
              <a:rPr lang="bg-BG" dirty="0"/>
              <a:t>, като в случай на липсващ </a:t>
            </a:r>
            <a:r>
              <a:rPr lang="en-GB" b="1" dirty="0"/>
              <a:t>sample-size </a:t>
            </a:r>
            <a:r>
              <a:rPr lang="bg-BG" dirty="0"/>
              <a:t>се прибягва до </a:t>
            </a:r>
            <a:r>
              <a:rPr lang="en-GB" b="1" dirty="0"/>
              <a:t>simple average:</a:t>
            </a:r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3D3F8A-D75C-460C-1520-DCE9C8A0F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" y="3429000"/>
            <a:ext cx="8982075" cy="274694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7689959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C5F3C-7CDF-52B3-F82B-B65ACFD78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926117"/>
            <a:ext cx="8610600" cy="1293028"/>
          </a:xfrm>
        </p:spPr>
        <p:txBody>
          <a:bodyPr/>
          <a:lstStyle/>
          <a:p>
            <a:r>
              <a:rPr lang="en-GB" b="1" dirty="0"/>
              <a:t>Synthethic PRICE and CONFIDENCE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72339-291E-8960-0E91-25F721949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734575"/>
            <a:ext cx="10820400" cy="3622134"/>
          </a:xfrm>
        </p:spPr>
        <p:txBody>
          <a:bodyPr>
            <a:normAutofit fontScale="70000" lnSpcReduction="20000"/>
          </a:bodyPr>
          <a:lstStyle/>
          <a:p>
            <a:pPr marL="457200" indent="-457200">
              <a:buAutoNum type="arabicPeriod"/>
            </a:pPr>
            <a:r>
              <a:rPr lang="en-GB" sz="2600" b="1" dirty="0"/>
              <a:t>Price</a:t>
            </a:r>
          </a:p>
          <a:p>
            <a:pPr marL="457200" indent="-457200">
              <a:buAutoNum type="arabicPeriod"/>
            </a:pPr>
            <a:endParaRPr lang="en-GB" dirty="0"/>
          </a:p>
          <a:p>
            <a:pPr marL="0" indent="0">
              <a:buNone/>
            </a:pPr>
            <a:r>
              <a:rPr lang="bg-BG" dirty="0"/>
              <a:t>Цената на един иструмент варира в диапазона </a:t>
            </a:r>
            <a:r>
              <a:rPr lang="bg-BG" b="1" dirty="0"/>
              <a:t>0 – 100 </a:t>
            </a:r>
            <a:r>
              <a:rPr lang="bg-BG" dirty="0"/>
              <a:t>и се базира на формулата</a:t>
            </a:r>
            <a:r>
              <a:rPr lang="en-GB" dirty="0"/>
              <a:t> (</a:t>
            </a:r>
            <a:r>
              <a:rPr lang="bg-BG" dirty="0"/>
              <a:t>в </a:t>
            </a:r>
            <a:r>
              <a:rPr lang="en-GB" dirty="0"/>
              <a:t>UI </a:t>
            </a:r>
            <a:r>
              <a:rPr lang="bg-BG" dirty="0"/>
              <a:t>се показва финалната синтетична цена</a:t>
            </a:r>
            <a:r>
              <a:rPr lang="en-GB" dirty="0"/>
              <a:t>):</a:t>
            </a:r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GB" dirty="0"/>
              <a:t>price = ( 50 * win_rate ) + ( 30 * top4_rate ) + ( 20 * pick_rate )</a:t>
            </a:r>
            <a:endParaRPr lang="bg-BG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600" b="1" dirty="0"/>
              <a:t>2. Confidence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HIGH: games &gt;= 80</a:t>
            </a:r>
          </a:p>
          <a:p>
            <a:pPr marL="0" indent="0">
              <a:buNone/>
            </a:pPr>
            <a:r>
              <a:rPr lang="en-GB" dirty="0"/>
              <a:t>MED: 40 &lt;= games &lt; 80</a:t>
            </a:r>
          </a:p>
          <a:p>
            <a:pPr marL="0" indent="0">
              <a:buNone/>
            </a:pPr>
            <a:r>
              <a:rPr lang="en-GB" dirty="0"/>
              <a:t>LOW: 20 &lt;= games &lt; 40</a:t>
            </a:r>
          </a:p>
          <a:p>
            <a:pPr marL="0" indent="0">
              <a:buNone/>
            </a:pPr>
            <a:r>
              <a:rPr lang="en-GB" dirty="0"/>
              <a:t>UNK: </a:t>
            </a:r>
            <a:r>
              <a:rPr lang="bg-BG" dirty="0"/>
              <a:t>лиспсващи игри </a:t>
            </a:r>
            <a:r>
              <a:rPr lang="en-GB" dirty="0"/>
              <a:t>(failsafe)</a:t>
            </a:r>
            <a:endParaRPr lang="bg-B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F6F3E5-AC23-2820-308E-B4D77A86C7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745" b="6403"/>
          <a:stretch>
            <a:fillRect/>
          </a:stretch>
        </p:blipFill>
        <p:spPr>
          <a:xfrm>
            <a:off x="685800" y="1981918"/>
            <a:ext cx="6820852" cy="47445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5398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7F2A4-8B46-3C8D-DF0F-B01CD334B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DE4EF-0056-3BA0-B327-2E681D6C6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885142"/>
            <a:ext cx="8610600" cy="1293028"/>
          </a:xfrm>
        </p:spPr>
        <p:txBody>
          <a:bodyPr/>
          <a:lstStyle/>
          <a:p>
            <a:r>
              <a:rPr lang="en-GB" b="1" dirty="0"/>
              <a:t>Synthethic PRICE and CONFIDENCE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3D659-CBFE-5D6E-AF7E-BB4C147E1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91" y="3411128"/>
            <a:ext cx="5794027" cy="25374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2800" dirty="0"/>
              <a:t>Идеята на </a:t>
            </a:r>
            <a:r>
              <a:rPr lang="en-GB" sz="2800" b="1" dirty="0"/>
              <a:t>Confidence</a:t>
            </a:r>
            <a:r>
              <a:rPr lang="en-GB" sz="2800" dirty="0"/>
              <a:t> </a:t>
            </a:r>
            <a:r>
              <a:rPr lang="bg-BG" sz="2800" dirty="0"/>
              <a:t>е да помага да се разпознаят фалшиви </a:t>
            </a:r>
            <a:r>
              <a:rPr lang="en-GB" sz="2800" b="1" dirty="0"/>
              <a:t>spyke</a:t>
            </a:r>
            <a:r>
              <a:rPr lang="en-GB" sz="2800" dirty="0"/>
              <a:t>-</a:t>
            </a:r>
            <a:r>
              <a:rPr lang="bg-BG" sz="2800" dirty="0"/>
              <a:t>ове при малък </a:t>
            </a:r>
            <a:r>
              <a:rPr lang="en-GB" sz="2800" b="1" dirty="0"/>
              <a:t>sample-size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bg-BG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1142DD-A5D5-45AE-0227-6A3960539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166074"/>
            <a:ext cx="5175082" cy="24385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1339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53FE6-1401-12E2-94A0-909A4EFA6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8869" y="512802"/>
            <a:ext cx="8610600" cy="1293028"/>
          </a:xfrm>
        </p:spPr>
        <p:txBody>
          <a:bodyPr/>
          <a:lstStyle/>
          <a:p>
            <a:r>
              <a:rPr lang="en-GB" dirty="0"/>
              <a:t>UI Terminal:</a:t>
            </a:r>
            <a:br>
              <a:rPr lang="en-GB" dirty="0"/>
            </a:br>
            <a:r>
              <a:rPr lang="bg-BG" dirty="0"/>
              <a:t>Удобства за анализ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44325-99F4-B471-862B-1EA3379BA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766" y="2263571"/>
            <a:ext cx="10820400" cy="4163108"/>
          </a:xfrm>
        </p:spPr>
        <p:txBody>
          <a:bodyPr>
            <a:normAutofit fontScale="92500" lnSpcReduction="10000"/>
          </a:bodyPr>
          <a:lstStyle/>
          <a:p>
            <a:r>
              <a:rPr lang="bg-BG" dirty="0"/>
              <a:t>Таблица с инструменти </a:t>
            </a:r>
            <a:r>
              <a:rPr lang="en-GB" b="1" dirty="0"/>
              <a:t>(Instrument / Price / Confidence)</a:t>
            </a:r>
          </a:p>
          <a:p>
            <a:endParaRPr lang="en-GB" b="1" dirty="0"/>
          </a:p>
          <a:p>
            <a:r>
              <a:rPr lang="en-GB" b="1" dirty="0"/>
              <a:t>Search</a:t>
            </a:r>
            <a:r>
              <a:rPr lang="en-GB" dirty="0"/>
              <a:t> + </a:t>
            </a:r>
            <a:r>
              <a:rPr lang="bg-BG" dirty="0"/>
              <a:t>сортиране по колони</a:t>
            </a:r>
            <a:endParaRPr lang="en-GB" dirty="0"/>
          </a:p>
          <a:p>
            <a:endParaRPr lang="bg-BG" dirty="0"/>
          </a:p>
          <a:p>
            <a:r>
              <a:rPr lang="en-GB" b="1" dirty="0"/>
              <a:t>Contracts dropdown </a:t>
            </a:r>
            <a:r>
              <a:rPr lang="az-Cyrl-AZ" dirty="0"/>
              <a:t>→ избор на конкретен </a:t>
            </a:r>
            <a:r>
              <a:rPr lang="en-GB" b="1" dirty="0"/>
              <a:t>Individual Contract</a:t>
            </a:r>
          </a:p>
          <a:p>
            <a:endParaRPr lang="en-GB" b="1" dirty="0"/>
          </a:p>
          <a:p>
            <a:r>
              <a:rPr lang="bg-BG" dirty="0"/>
              <a:t>Точна цена на конкретен </a:t>
            </a:r>
            <a:r>
              <a:rPr lang="en-GB" b="1" dirty="0"/>
              <a:t>data point </a:t>
            </a:r>
            <a:r>
              <a:rPr lang="bg-BG" dirty="0"/>
              <a:t>при </a:t>
            </a:r>
            <a:r>
              <a:rPr lang="en-GB" b="1" dirty="0"/>
              <a:t>hover-over</a:t>
            </a:r>
            <a:r>
              <a:rPr lang="en-GB" dirty="0"/>
              <a:t> </a:t>
            </a:r>
            <a:r>
              <a:rPr lang="bg-BG" dirty="0"/>
              <a:t>върху графиката</a:t>
            </a:r>
            <a:endParaRPr lang="en-GB" dirty="0"/>
          </a:p>
          <a:p>
            <a:endParaRPr lang="bg-BG" dirty="0"/>
          </a:p>
          <a:p>
            <a:r>
              <a:rPr lang="en-GB" b="1" dirty="0"/>
              <a:t>Help (?) </a:t>
            </a:r>
            <a:r>
              <a:rPr lang="az-Cyrl-AZ" dirty="0"/>
              <a:t>→ </a:t>
            </a:r>
            <a:r>
              <a:rPr lang="bg-BG" dirty="0"/>
              <a:t>кракти инструкции за приложението, обяснение за методологии</a:t>
            </a:r>
            <a:endParaRPr lang="en-GB" dirty="0"/>
          </a:p>
          <a:p>
            <a:pPr marL="0" indent="0">
              <a:buNone/>
            </a:pPr>
            <a:endParaRPr lang="bg-BG" dirty="0"/>
          </a:p>
          <a:p>
            <a:r>
              <a:rPr lang="en-GB" b="1" dirty="0"/>
              <a:t>Watchlist</a:t>
            </a:r>
            <a:r>
              <a:rPr lang="en-GB" dirty="0"/>
              <a:t> </a:t>
            </a:r>
            <a:r>
              <a:rPr lang="az-Cyrl-AZ" dirty="0"/>
              <a:t>→</a:t>
            </a:r>
            <a:r>
              <a:rPr lang="en-GB" dirty="0"/>
              <a:t> </a:t>
            </a:r>
            <a:r>
              <a:rPr lang="bg-BG" dirty="0"/>
              <a:t>фиксиране на важни инструменти най-отгоре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5902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0BAE3-3CC8-886D-5023-02C260AFD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2D089-F5A7-4B71-BBAF-2718B37A0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279" y="489537"/>
            <a:ext cx="10557295" cy="1293028"/>
          </a:xfrm>
        </p:spPr>
        <p:txBody>
          <a:bodyPr/>
          <a:lstStyle/>
          <a:p>
            <a:r>
              <a:rPr lang="en-GB" b="1" dirty="0"/>
              <a:t>UI Terminal:</a:t>
            </a:r>
            <a:br>
              <a:rPr lang="en-GB" b="1" dirty="0"/>
            </a:br>
            <a:r>
              <a:rPr lang="bg-BG" b="1" dirty="0"/>
              <a:t>Удобства за анализ</a:t>
            </a:r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983B44-E6D0-1FC8-5C4E-4433AC3F6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031" y="1430091"/>
            <a:ext cx="3315163" cy="7049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EE3A21-AD51-60E3-E147-262D55958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8031" y="1936632"/>
            <a:ext cx="9711906" cy="44931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737233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2E5EA-1A9B-4A46-1546-191D107C0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997285"/>
            <a:ext cx="8610600" cy="1293028"/>
          </a:xfrm>
        </p:spPr>
        <p:txBody>
          <a:bodyPr/>
          <a:lstStyle/>
          <a:p>
            <a:r>
              <a:rPr lang="bg-BG" b="1" dirty="0"/>
              <a:t>ПЛАНОВЕ ЗА БЪДЕЩО РАЗВИТИЕ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61A68-C27B-3AAF-4051-98A04DE40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594753"/>
            <a:ext cx="10820400" cy="3636897"/>
          </a:xfrm>
        </p:spPr>
        <p:txBody>
          <a:bodyPr>
            <a:normAutofit/>
          </a:bodyPr>
          <a:lstStyle/>
          <a:p>
            <a:r>
              <a:rPr lang="bg-BG" sz="2400" dirty="0"/>
              <a:t>Нови финансови инструменти</a:t>
            </a:r>
            <a:r>
              <a:rPr lang="en-GB" sz="2400" dirty="0"/>
              <a:t>/</a:t>
            </a:r>
            <a:r>
              <a:rPr lang="bg-BG" sz="2400" dirty="0"/>
              <a:t>борси</a:t>
            </a:r>
            <a:endParaRPr lang="en-GB" sz="2400" dirty="0"/>
          </a:p>
          <a:p>
            <a:pPr marL="0" indent="0">
              <a:buNone/>
            </a:pPr>
            <a:endParaRPr lang="bg-BG" sz="2400" dirty="0"/>
          </a:p>
          <a:p>
            <a:r>
              <a:rPr lang="bg-BG" sz="2400" dirty="0"/>
              <a:t>Визуализация на </a:t>
            </a:r>
            <a:r>
              <a:rPr lang="en-GB" sz="2400" b="1" dirty="0"/>
              <a:t>live/tick data</a:t>
            </a:r>
          </a:p>
          <a:p>
            <a:endParaRPr lang="en-GB" sz="2400" b="1" dirty="0"/>
          </a:p>
          <a:p>
            <a:r>
              <a:rPr lang="bg-BG" sz="2400" dirty="0"/>
              <a:t>Функционалност за </a:t>
            </a:r>
            <a:r>
              <a:rPr lang="en-GB" sz="2400" b="1" dirty="0"/>
              <a:t>paper trading</a:t>
            </a:r>
          </a:p>
          <a:p>
            <a:endParaRPr lang="en-GB" sz="2400" b="1" dirty="0"/>
          </a:p>
          <a:p>
            <a:r>
              <a:rPr lang="bg-BG" sz="2400" dirty="0"/>
              <a:t>Автоматизация на извличане на данни и логове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336087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45BAA-D6E2-2C21-FA8B-C6D8F2B78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E61DB-6D75-7E49-4F62-F05E5E2D8A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54357" y="2701894"/>
            <a:ext cx="3683286" cy="1454212"/>
          </a:xfrm>
        </p:spPr>
        <p:txBody>
          <a:bodyPr>
            <a:normAutofit/>
          </a:bodyPr>
          <a:lstStyle/>
          <a:p>
            <a:pPr algn="ctr"/>
            <a:r>
              <a:rPr lang="en-GB" sz="8800" b="1" dirty="0"/>
              <a:t>Demo</a:t>
            </a:r>
            <a:endParaRPr lang="en-US" sz="8800" b="1" dirty="0"/>
          </a:p>
        </p:txBody>
      </p:sp>
    </p:spTree>
    <p:extLst>
      <p:ext uri="{BB962C8B-B14F-4D97-AF65-F5344CB8AC3E}">
        <p14:creationId xmlns:p14="http://schemas.microsoft.com/office/powerpoint/2010/main" val="1283727407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361</TotalTime>
  <Words>848</Words>
  <Application>Microsoft Office PowerPoint</Application>
  <PresentationFormat>Widescreen</PresentationFormat>
  <Paragraphs>129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Century Gothic</vt:lpstr>
      <vt:lpstr>Wingdings</vt:lpstr>
      <vt:lpstr>Vapor Trail</vt:lpstr>
      <vt:lpstr>TFT Synthetic market terminal</vt:lpstr>
      <vt:lpstr>Какво е Teamfight Tactics (TFT)?</vt:lpstr>
      <vt:lpstr>Концепция:  TFT meta като финансов пазар</vt:lpstr>
      <vt:lpstr>Riot API:  какво получаваме  какво трябва да изчислим</vt:lpstr>
      <vt:lpstr>end-to-end Архитектура</vt:lpstr>
      <vt:lpstr>PowerPoint Presentation</vt:lpstr>
      <vt:lpstr>ПРЕДИЗВИКАтелСТВА</vt:lpstr>
      <vt:lpstr>COMP BUILDER</vt:lpstr>
      <vt:lpstr>COMP BUILDER</vt:lpstr>
      <vt:lpstr>STATS ENGINE</vt:lpstr>
      <vt:lpstr>STATS ENGINE</vt:lpstr>
      <vt:lpstr>Continuous Future: агрегирана цена на trait</vt:lpstr>
      <vt:lpstr>Continuous Future: агрегирана цена на trait</vt:lpstr>
      <vt:lpstr>Synthethic PRICE and CONFIDENCE</vt:lpstr>
      <vt:lpstr>Synthethic PRICE and CONFIDENCE</vt:lpstr>
      <vt:lpstr>UI Terminal: Удобства за анализ</vt:lpstr>
      <vt:lpstr>UI Terminal: Удобства за анализ</vt:lpstr>
      <vt:lpstr>ПЛАНОВЕ ЗА БЪДЕЩО РАЗВИТИЕ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Academy21</dc:creator>
  <cp:lastModifiedBy>Academy21</cp:lastModifiedBy>
  <cp:revision>29</cp:revision>
  <dcterms:created xsi:type="dcterms:W3CDTF">2026-01-16T12:03:42Z</dcterms:created>
  <dcterms:modified xsi:type="dcterms:W3CDTF">2026-01-16T18:05:31Z</dcterms:modified>
</cp:coreProperties>
</file>